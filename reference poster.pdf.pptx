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20104100" cy="14084300"/>
  <p:notesSz cx="6858000" cy="9144000"/>
  <p:embeddedFontLst>
    <p:embeddedFont>
      <p:font typeface="Arial Bold" charset="1" panose="020B0704020202020204"/>
      <p:regular r:id="rId7"/>
    </p:embeddedFont>
    <p:embeddedFont>
      <p:font typeface="Arial" charset="1" panose="020B060402020202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png" Type="http://schemas.openxmlformats.org/officeDocument/2006/relationships/image"/><Relationship Id="rId17" Target="../media/image16.png" Type="http://schemas.openxmlformats.org/officeDocument/2006/relationships/image"/><Relationship Id="rId18" Target="../media/image17.png" Type="http://schemas.openxmlformats.org/officeDocument/2006/relationships/image"/><Relationship Id="rId19" Target="../media/image18.jpeg" Type="http://schemas.openxmlformats.org/officeDocument/2006/relationships/image"/><Relationship Id="rId2" Target="../media/image1.png" Type="http://schemas.openxmlformats.org/officeDocument/2006/relationships/image"/><Relationship Id="rId20" Target="../media/image19.jpeg" Type="http://schemas.openxmlformats.org/officeDocument/2006/relationships/image"/><Relationship Id="rId21" Target="../media/image20.png" Type="http://schemas.openxmlformats.org/officeDocument/2006/relationships/image"/><Relationship Id="rId22" Target="../media/image21.png" Type="http://schemas.openxmlformats.org/officeDocument/2006/relationships/image"/><Relationship Id="rId23" Target="../media/image22.png" Type="http://schemas.openxmlformats.org/officeDocument/2006/relationships/image"/><Relationship Id="rId24" Target="../media/image23.jpe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56562" y="267338"/>
            <a:ext cx="19227289" cy="1599943"/>
          </a:xfrm>
          <a:custGeom>
            <a:avLst/>
            <a:gdLst/>
            <a:ahLst/>
            <a:cxnLst/>
            <a:rect r="r" b="b" t="t" l="l"/>
            <a:pathLst>
              <a:path h="1599943" w="19227289">
                <a:moveTo>
                  <a:pt x="0" y="0"/>
                </a:moveTo>
                <a:lnTo>
                  <a:pt x="19227289" y="0"/>
                </a:lnTo>
                <a:lnTo>
                  <a:pt x="19227289" y="1599943"/>
                </a:lnTo>
                <a:lnTo>
                  <a:pt x="0" y="15999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9417" y="7486012"/>
            <a:ext cx="4409456" cy="648005"/>
          </a:xfrm>
          <a:custGeom>
            <a:avLst/>
            <a:gdLst/>
            <a:ahLst/>
            <a:cxnLst/>
            <a:rect r="r" b="b" t="t" l="l"/>
            <a:pathLst>
              <a:path h="648005" w="4409456">
                <a:moveTo>
                  <a:pt x="0" y="0"/>
                </a:moveTo>
                <a:lnTo>
                  <a:pt x="4409456" y="0"/>
                </a:lnTo>
                <a:lnTo>
                  <a:pt x="4409456" y="648005"/>
                </a:lnTo>
                <a:lnTo>
                  <a:pt x="0" y="6480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78536" y="8023479"/>
            <a:ext cx="4331208" cy="47625"/>
          </a:xfrm>
          <a:custGeom>
            <a:avLst/>
            <a:gdLst/>
            <a:ahLst/>
            <a:cxnLst/>
            <a:rect r="r" b="b" t="t" l="l"/>
            <a:pathLst>
              <a:path h="47625" w="4331208">
                <a:moveTo>
                  <a:pt x="0" y="0"/>
                </a:moveTo>
                <a:lnTo>
                  <a:pt x="4331208" y="0"/>
                </a:lnTo>
                <a:lnTo>
                  <a:pt x="4331208" y="47625"/>
                </a:lnTo>
                <a:lnTo>
                  <a:pt x="0" y="47625"/>
                </a:lnTo>
                <a:lnTo>
                  <a:pt x="0" y="0"/>
                </a:lnTo>
                <a:close/>
              </a:path>
            </a:pathLst>
          </a:custGeom>
          <a:blipFill>
            <a:blip r:embed="rId6"/>
            <a:stretch>
              <a:fillRect l="0" t="-994400" r="0" b="0"/>
            </a:stretch>
          </a:blipFill>
        </p:spPr>
      </p:sp>
      <p:sp>
        <p:nvSpPr>
          <p:cNvPr name="Freeform 5" id="5"/>
          <p:cNvSpPr/>
          <p:nvPr/>
        </p:nvSpPr>
        <p:spPr>
          <a:xfrm flipH="false" flipV="false" rot="0">
            <a:off x="408937" y="1877949"/>
            <a:ext cx="4458338" cy="649434"/>
          </a:xfrm>
          <a:custGeom>
            <a:avLst/>
            <a:gdLst/>
            <a:ahLst/>
            <a:cxnLst/>
            <a:rect r="r" b="b" t="t" l="l"/>
            <a:pathLst>
              <a:path h="649434" w="4458338">
                <a:moveTo>
                  <a:pt x="0" y="0"/>
                </a:moveTo>
                <a:lnTo>
                  <a:pt x="4458338" y="0"/>
                </a:lnTo>
                <a:lnTo>
                  <a:pt x="4458338" y="649434"/>
                </a:lnTo>
                <a:lnTo>
                  <a:pt x="0" y="64943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720715" y="1877949"/>
            <a:ext cx="8671570" cy="649910"/>
          </a:xfrm>
          <a:custGeom>
            <a:avLst/>
            <a:gdLst/>
            <a:ahLst/>
            <a:cxnLst/>
            <a:rect r="r" b="b" t="t" l="l"/>
            <a:pathLst>
              <a:path h="649910" w="8671570">
                <a:moveTo>
                  <a:pt x="0" y="0"/>
                </a:moveTo>
                <a:lnTo>
                  <a:pt x="8671570" y="0"/>
                </a:lnTo>
                <a:lnTo>
                  <a:pt x="8671570" y="649910"/>
                </a:lnTo>
                <a:lnTo>
                  <a:pt x="0" y="64991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5267937" y="1879216"/>
            <a:ext cx="4391673" cy="647376"/>
          </a:xfrm>
          <a:custGeom>
            <a:avLst/>
            <a:gdLst/>
            <a:ahLst/>
            <a:cxnLst/>
            <a:rect r="r" b="b" t="t" l="l"/>
            <a:pathLst>
              <a:path h="647376" w="4391673">
                <a:moveTo>
                  <a:pt x="0" y="0"/>
                </a:moveTo>
                <a:lnTo>
                  <a:pt x="4391673" y="0"/>
                </a:lnTo>
                <a:lnTo>
                  <a:pt x="4391673" y="647376"/>
                </a:lnTo>
                <a:lnTo>
                  <a:pt x="0" y="64737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5243810" y="6737861"/>
            <a:ext cx="4440555" cy="660864"/>
          </a:xfrm>
          <a:custGeom>
            <a:avLst/>
            <a:gdLst/>
            <a:ahLst/>
            <a:cxnLst/>
            <a:rect r="r" b="b" t="t" l="l"/>
            <a:pathLst>
              <a:path h="660864" w="4440555">
                <a:moveTo>
                  <a:pt x="0" y="0"/>
                </a:moveTo>
                <a:lnTo>
                  <a:pt x="4440555" y="0"/>
                </a:lnTo>
                <a:lnTo>
                  <a:pt x="4440555" y="660864"/>
                </a:lnTo>
                <a:lnTo>
                  <a:pt x="0" y="66086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472440" y="1941576"/>
            <a:ext cx="4331208" cy="522732"/>
          </a:xfrm>
          <a:custGeom>
            <a:avLst/>
            <a:gdLst/>
            <a:ahLst/>
            <a:cxnLst/>
            <a:rect r="r" b="b" t="t" l="l"/>
            <a:pathLst>
              <a:path h="522732" w="4331208">
                <a:moveTo>
                  <a:pt x="0" y="0"/>
                </a:moveTo>
                <a:lnTo>
                  <a:pt x="4331208" y="0"/>
                </a:lnTo>
                <a:lnTo>
                  <a:pt x="4331208" y="522732"/>
                </a:lnTo>
                <a:lnTo>
                  <a:pt x="0" y="522732"/>
                </a:lnTo>
                <a:lnTo>
                  <a:pt x="0" y="0"/>
                </a:lnTo>
                <a:close/>
              </a:path>
            </a:pathLst>
          </a:custGeom>
          <a:blipFill>
            <a:blip r:embed="rId15"/>
            <a:stretch>
              <a:fillRect l="0" t="0" r="0" b="0"/>
            </a:stretch>
          </a:blipFill>
        </p:spPr>
      </p:sp>
      <p:sp>
        <p:nvSpPr>
          <p:cNvPr name="Freeform 10" id="10"/>
          <p:cNvSpPr/>
          <p:nvPr/>
        </p:nvSpPr>
        <p:spPr>
          <a:xfrm flipH="false" flipV="false" rot="0">
            <a:off x="5759196" y="1941576"/>
            <a:ext cx="8593836" cy="522732"/>
          </a:xfrm>
          <a:custGeom>
            <a:avLst/>
            <a:gdLst/>
            <a:ahLst/>
            <a:cxnLst/>
            <a:rect r="r" b="b" t="t" l="l"/>
            <a:pathLst>
              <a:path h="522732" w="8593836">
                <a:moveTo>
                  <a:pt x="0" y="0"/>
                </a:moveTo>
                <a:lnTo>
                  <a:pt x="8593836" y="0"/>
                </a:lnTo>
                <a:lnTo>
                  <a:pt x="8593836" y="522732"/>
                </a:lnTo>
                <a:lnTo>
                  <a:pt x="0" y="522732"/>
                </a:lnTo>
                <a:lnTo>
                  <a:pt x="0" y="0"/>
                </a:lnTo>
                <a:close/>
              </a:path>
            </a:pathLst>
          </a:custGeom>
          <a:blipFill>
            <a:blip r:embed="rId16"/>
            <a:stretch>
              <a:fillRect l="0" t="0" r="0" b="0"/>
            </a:stretch>
          </a:blipFill>
        </p:spPr>
      </p:sp>
      <p:sp>
        <p:nvSpPr>
          <p:cNvPr name="Freeform 11" id="11"/>
          <p:cNvSpPr/>
          <p:nvPr/>
        </p:nvSpPr>
        <p:spPr>
          <a:xfrm flipH="false" flipV="false" rot="0">
            <a:off x="15307056" y="1943100"/>
            <a:ext cx="4312920" cy="519684"/>
          </a:xfrm>
          <a:custGeom>
            <a:avLst/>
            <a:gdLst/>
            <a:ahLst/>
            <a:cxnLst/>
            <a:rect r="r" b="b" t="t" l="l"/>
            <a:pathLst>
              <a:path h="519684" w="4312920">
                <a:moveTo>
                  <a:pt x="0" y="0"/>
                </a:moveTo>
                <a:lnTo>
                  <a:pt x="4312920" y="0"/>
                </a:lnTo>
                <a:lnTo>
                  <a:pt x="4312920" y="519684"/>
                </a:lnTo>
                <a:lnTo>
                  <a:pt x="0" y="519684"/>
                </a:lnTo>
                <a:lnTo>
                  <a:pt x="0" y="0"/>
                </a:lnTo>
                <a:close/>
              </a:path>
            </a:pathLst>
          </a:custGeom>
          <a:blipFill>
            <a:blip r:embed="rId17"/>
            <a:stretch>
              <a:fillRect l="0" t="0" r="0" b="0"/>
            </a:stretch>
          </a:blipFill>
        </p:spPr>
      </p:sp>
      <p:sp>
        <p:nvSpPr>
          <p:cNvPr name="Freeform 12" id="12"/>
          <p:cNvSpPr/>
          <p:nvPr/>
        </p:nvSpPr>
        <p:spPr>
          <a:xfrm flipH="false" flipV="false" rot="0">
            <a:off x="15307056" y="6801612"/>
            <a:ext cx="4312920" cy="533400"/>
          </a:xfrm>
          <a:custGeom>
            <a:avLst/>
            <a:gdLst/>
            <a:ahLst/>
            <a:cxnLst/>
            <a:rect r="r" b="b" t="t" l="l"/>
            <a:pathLst>
              <a:path h="533400" w="4312920">
                <a:moveTo>
                  <a:pt x="0" y="0"/>
                </a:moveTo>
                <a:lnTo>
                  <a:pt x="4312920" y="0"/>
                </a:lnTo>
                <a:lnTo>
                  <a:pt x="4312920" y="533400"/>
                </a:lnTo>
                <a:lnTo>
                  <a:pt x="0" y="533400"/>
                </a:lnTo>
                <a:lnTo>
                  <a:pt x="0" y="0"/>
                </a:lnTo>
                <a:close/>
              </a:path>
            </a:pathLst>
          </a:custGeom>
          <a:blipFill>
            <a:blip r:embed="rId18"/>
            <a:stretch>
              <a:fillRect l="0" t="0" r="0" b="0"/>
            </a:stretch>
          </a:blipFill>
        </p:spPr>
      </p:sp>
      <p:sp>
        <p:nvSpPr>
          <p:cNvPr name="Freeform 13" id="13"/>
          <p:cNvSpPr/>
          <p:nvPr/>
        </p:nvSpPr>
        <p:spPr>
          <a:xfrm flipH="false" flipV="false" rot="0">
            <a:off x="614677" y="472697"/>
            <a:ext cx="3862702" cy="1134113"/>
          </a:xfrm>
          <a:custGeom>
            <a:avLst/>
            <a:gdLst/>
            <a:ahLst/>
            <a:cxnLst/>
            <a:rect r="r" b="b" t="t" l="l"/>
            <a:pathLst>
              <a:path h="1134113" w="3862702">
                <a:moveTo>
                  <a:pt x="0" y="0"/>
                </a:moveTo>
                <a:lnTo>
                  <a:pt x="3862702" y="0"/>
                </a:lnTo>
                <a:lnTo>
                  <a:pt x="3862702" y="1134113"/>
                </a:lnTo>
                <a:lnTo>
                  <a:pt x="0" y="1134113"/>
                </a:lnTo>
                <a:lnTo>
                  <a:pt x="0" y="0"/>
                </a:lnTo>
                <a:close/>
              </a:path>
            </a:pathLst>
          </a:custGeom>
          <a:blipFill>
            <a:blip r:embed="rId19"/>
            <a:stretch>
              <a:fillRect l="0" t="0" r="0" b="0"/>
            </a:stretch>
          </a:blipFill>
        </p:spPr>
      </p:sp>
      <p:sp>
        <p:nvSpPr>
          <p:cNvPr name="Freeform 14" id="14"/>
          <p:cNvSpPr/>
          <p:nvPr/>
        </p:nvSpPr>
        <p:spPr>
          <a:xfrm flipH="false" flipV="false" rot="0">
            <a:off x="5869081" y="2887799"/>
            <a:ext cx="4516817" cy="4171936"/>
          </a:xfrm>
          <a:custGeom>
            <a:avLst/>
            <a:gdLst/>
            <a:ahLst/>
            <a:cxnLst/>
            <a:rect r="r" b="b" t="t" l="l"/>
            <a:pathLst>
              <a:path h="4171936" w="4516817">
                <a:moveTo>
                  <a:pt x="0" y="0"/>
                </a:moveTo>
                <a:lnTo>
                  <a:pt x="4516817" y="0"/>
                </a:lnTo>
                <a:lnTo>
                  <a:pt x="4516817" y="4171936"/>
                </a:lnTo>
                <a:lnTo>
                  <a:pt x="0" y="4171936"/>
                </a:lnTo>
                <a:lnTo>
                  <a:pt x="0" y="0"/>
                </a:lnTo>
                <a:close/>
              </a:path>
            </a:pathLst>
          </a:custGeom>
          <a:blipFill>
            <a:blip r:embed="rId20"/>
            <a:stretch>
              <a:fillRect l="0" t="-6260" r="0" b="-2006"/>
            </a:stretch>
          </a:blipFill>
        </p:spPr>
      </p:sp>
      <p:sp>
        <p:nvSpPr>
          <p:cNvPr name="TextBox 15" id="15"/>
          <p:cNvSpPr txBox="true"/>
          <p:nvPr/>
        </p:nvSpPr>
        <p:spPr>
          <a:xfrm rot="0">
            <a:off x="594951" y="8200692"/>
            <a:ext cx="2884484" cy="349148"/>
          </a:xfrm>
          <a:prstGeom prst="rect">
            <a:avLst/>
          </a:prstGeom>
        </p:spPr>
        <p:txBody>
          <a:bodyPr anchor="t" rtlCol="false" tIns="0" lIns="0" bIns="0" rIns="0">
            <a:spAutoFit/>
          </a:bodyPr>
          <a:lstStyle/>
          <a:p>
            <a:pPr algn="l">
              <a:lnSpc>
                <a:spcPts val="2805"/>
              </a:lnSpc>
            </a:pPr>
            <a:r>
              <a:rPr lang="en-US" b="true" sz="2004" spc="6">
                <a:solidFill>
                  <a:srgbClr val="000000"/>
                </a:solidFill>
                <a:latin typeface="Arial Bold"/>
                <a:ea typeface="Arial Bold"/>
                <a:cs typeface="Arial Bold"/>
                <a:sym typeface="Arial Bold"/>
              </a:rPr>
              <a:t>Methods and Services </a:t>
            </a:r>
          </a:p>
        </p:txBody>
      </p:sp>
      <p:sp>
        <p:nvSpPr>
          <p:cNvPr name="TextBox 16" id="16"/>
          <p:cNvSpPr txBox="true"/>
          <p:nvPr/>
        </p:nvSpPr>
        <p:spPr>
          <a:xfrm rot="0">
            <a:off x="10362562" y="7316734"/>
            <a:ext cx="46672" cy="203625"/>
          </a:xfrm>
          <a:prstGeom prst="rect">
            <a:avLst/>
          </a:prstGeom>
        </p:spPr>
        <p:txBody>
          <a:bodyPr anchor="t" rtlCol="false" tIns="0" lIns="0" bIns="0" rIns="0">
            <a:spAutoFit/>
          </a:bodyPr>
          <a:lstStyle/>
          <a:p>
            <a:pPr algn="l">
              <a:lnSpc>
                <a:spcPts val="1489"/>
              </a:lnSpc>
            </a:pPr>
            <a:r>
              <a:rPr lang="en-US" b="true" sz="1296">
                <a:solidFill>
                  <a:srgbClr val="000000"/>
                </a:solidFill>
                <a:latin typeface="Arial Bold"/>
                <a:ea typeface="Arial Bold"/>
                <a:cs typeface="Arial Bold"/>
                <a:sym typeface="Arial Bold"/>
              </a:rPr>
              <a:t> </a:t>
            </a:r>
          </a:p>
        </p:txBody>
      </p:sp>
      <p:sp>
        <p:nvSpPr>
          <p:cNvPr name="TextBox 17" id="17"/>
          <p:cNvSpPr txBox="true"/>
          <p:nvPr/>
        </p:nvSpPr>
        <p:spPr>
          <a:xfrm rot="0">
            <a:off x="542163" y="8707745"/>
            <a:ext cx="3863864" cy="398933"/>
          </a:xfrm>
          <a:prstGeom prst="rect">
            <a:avLst/>
          </a:prstGeom>
        </p:spPr>
        <p:txBody>
          <a:bodyPr anchor="t" rtlCol="false" tIns="0" lIns="0" bIns="0" rIns="0">
            <a:spAutoFit/>
          </a:bodyPr>
          <a:lstStyle/>
          <a:p>
            <a:pPr algn="l">
              <a:lnSpc>
                <a:spcPts val="1515"/>
              </a:lnSpc>
            </a:pPr>
            <a:r>
              <a:rPr lang="en-US" sz="1255">
                <a:solidFill>
                  <a:srgbClr val="000000"/>
                </a:solidFill>
                <a:latin typeface="Arial"/>
                <a:ea typeface="Arial"/>
                <a:cs typeface="Arial"/>
                <a:sym typeface="Arial"/>
              </a:rPr>
              <a:t>The Project integrates several key AWS services and a third-party API to function:</a:t>
            </a:r>
          </a:p>
        </p:txBody>
      </p:sp>
      <p:sp>
        <p:nvSpPr>
          <p:cNvPr name="TextBox 18" id="18"/>
          <p:cNvSpPr txBox="true"/>
          <p:nvPr/>
        </p:nvSpPr>
        <p:spPr>
          <a:xfrm rot="0">
            <a:off x="2069849" y="7536771"/>
            <a:ext cx="1251156" cy="386048"/>
          </a:xfrm>
          <a:prstGeom prst="rect">
            <a:avLst/>
          </a:prstGeom>
        </p:spPr>
        <p:txBody>
          <a:bodyPr anchor="t" rtlCol="false" tIns="0" lIns="0" bIns="0" rIns="0">
            <a:spAutoFit/>
          </a:bodyPr>
          <a:lstStyle/>
          <a:p>
            <a:pPr algn="l">
              <a:lnSpc>
                <a:spcPts val="3074"/>
              </a:lnSpc>
            </a:pPr>
            <a:r>
              <a:rPr lang="en-US" b="true" sz="2195" spc="2">
                <a:solidFill>
                  <a:srgbClr val="FFFFFF"/>
                </a:solidFill>
                <a:latin typeface="Arial Bold"/>
                <a:ea typeface="Arial Bold"/>
                <a:cs typeface="Arial Bold"/>
                <a:sym typeface="Arial Bold"/>
              </a:rPr>
              <a:t>Methods</a:t>
            </a:r>
            <a:r>
              <a:rPr lang="en-US" b="true" sz="2195" spc="2">
                <a:solidFill>
                  <a:srgbClr val="000000"/>
                </a:solidFill>
                <a:latin typeface="Arial Bold"/>
                <a:ea typeface="Arial Bold"/>
                <a:cs typeface="Arial Bold"/>
                <a:sym typeface="Arial Bold"/>
              </a:rPr>
              <a:t> </a:t>
            </a:r>
          </a:p>
        </p:txBody>
      </p:sp>
      <p:sp>
        <p:nvSpPr>
          <p:cNvPr name="Freeform 19" id="19"/>
          <p:cNvSpPr/>
          <p:nvPr/>
        </p:nvSpPr>
        <p:spPr>
          <a:xfrm flipH="false" flipV="false" rot="0">
            <a:off x="2546028" y="7780624"/>
            <a:ext cx="4331208" cy="521208"/>
          </a:xfrm>
          <a:custGeom>
            <a:avLst/>
            <a:gdLst/>
            <a:ahLst/>
            <a:cxnLst/>
            <a:rect r="r" b="b" t="t" l="l"/>
            <a:pathLst>
              <a:path h="521208" w="4331208">
                <a:moveTo>
                  <a:pt x="0" y="0"/>
                </a:moveTo>
                <a:lnTo>
                  <a:pt x="4331208" y="0"/>
                </a:lnTo>
                <a:lnTo>
                  <a:pt x="4331208" y="521208"/>
                </a:lnTo>
                <a:lnTo>
                  <a:pt x="0" y="521208"/>
                </a:lnTo>
                <a:lnTo>
                  <a:pt x="0" y="0"/>
                </a:lnTo>
                <a:close/>
              </a:path>
            </a:pathLst>
          </a:custGeom>
          <a:blipFill>
            <a:blip r:embed="rId6"/>
            <a:stretch>
              <a:fillRect l="0" t="0" r="0" b="0"/>
            </a:stretch>
          </a:blipFill>
        </p:spPr>
      </p:sp>
      <p:sp>
        <p:nvSpPr>
          <p:cNvPr name="Freeform 20" id="20"/>
          <p:cNvSpPr/>
          <p:nvPr/>
        </p:nvSpPr>
        <p:spPr>
          <a:xfrm flipH="false" flipV="false" rot="0">
            <a:off x="6451978" y="6761236"/>
            <a:ext cx="4331208" cy="596998"/>
          </a:xfrm>
          <a:custGeom>
            <a:avLst/>
            <a:gdLst/>
            <a:ahLst/>
            <a:cxnLst/>
            <a:rect r="r" b="b" t="t" l="l"/>
            <a:pathLst>
              <a:path h="596998" w="4331208">
                <a:moveTo>
                  <a:pt x="0" y="0"/>
                </a:moveTo>
                <a:lnTo>
                  <a:pt x="4331208" y="0"/>
                </a:lnTo>
                <a:lnTo>
                  <a:pt x="4331208" y="596998"/>
                </a:lnTo>
                <a:lnTo>
                  <a:pt x="0" y="596998"/>
                </a:lnTo>
                <a:lnTo>
                  <a:pt x="0" y="0"/>
                </a:lnTo>
                <a:close/>
              </a:path>
            </a:pathLst>
          </a:custGeom>
          <a:blipFill>
            <a:blip r:embed="rId6"/>
            <a:stretch>
              <a:fillRect l="-7270" t="0" r="-7270" b="0"/>
            </a:stretch>
          </a:blipFill>
        </p:spPr>
      </p:sp>
      <p:sp>
        <p:nvSpPr>
          <p:cNvPr name="Freeform 21" id="21"/>
          <p:cNvSpPr/>
          <p:nvPr/>
        </p:nvSpPr>
        <p:spPr>
          <a:xfrm flipH="false" flipV="false" rot="0">
            <a:off x="630936" y="7702296"/>
            <a:ext cx="4331208" cy="1453686"/>
          </a:xfrm>
          <a:custGeom>
            <a:avLst/>
            <a:gdLst/>
            <a:ahLst/>
            <a:cxnLst/>
            <a:rect r="r" b="b" t="t" l="l"/>
            <a:pathLst>
              <a:path h="1453686" w="4331208">
                <a:moveTo>
                  <a:pt x="0" y="0"/>
                </a:moveTo>
                <a:lnTo>
                  <a:pt x="4331208" y="0"/>
                </a:lnTo>
                <a:lnTo>
                  <a:pt x="4331208" y="1453686"/>
                </a:lnTo>
                <a:lnTo>
                  <a:pt x="0" y="1453686"/>
                </a:lnTo>
                <a:lnTo>
                  <a:pt x="0" y="0"/>
                </a:lnTo>
                <a:close/>
              </a:path>
            </a:pathLst>
          </a:custGeom>
          <a:blipFill>
            <a:blip r:embed="rId6"/>
            <a:stretch>
              <a:fillRect l="-89453" t="0" r="-89453" b="0"/>
            </a:stretch>
          </a:blipFill>
        </p:spPr>
      </p:sp>
      <p:sp>
        <p:nvSpPr>
          <p:cNvPr name="Freeform 22" id="22"/>
          <p:cNvSpPr/>
          <p:nvPr/>
        </p:nvSpPr>
        <p:spPr>
          <a:xfrm flipH="false" flipV="false" rot="0">
            <a:off x="10524372" y="4684714"/>
            <a:ext cx="4409456" cy="648005"/>
          </a:xfrm>
          <a:custGeom>
            <a:avLst/>
            <a:gdLst/>
            <a:ahLst/>
            <a:cxnLst/>
            <a:rect r="r" b="b" t="t" l="l"/>
            <a:pathLst>
              <a:path h="648005" w="4409456">
                <a:moveTo>
                  <a:pt x="0" y="0"/>
                </a:moveTo>
                <a:lnTo>
                  <a:pt x="4409456" y="0"/>
                </a:lnTo>
                <a:lnTo>
                  <a:pt x="4409456" y="648005"/>
                </a:lnTo>
                <a:lnTo>
                  <a:pt x="0" y="6480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5846060" y="9569360"/>
            <a:ext cx="4409456" cy="648005"/>
          </a:xfrm>
          <a:custGeom>
            <a:avLst/>
            <a:gdLst/>
            <a:ahLst/>
            <a:cxnLst/>
            <a:rect r="r" b="b" t="t" l="l"/>
            <a:pathLst>
              <a:path h="648005" w="4409456">
                <a:moveTo>
                  <a:pt x="0" y="0"/>
                </a:moveTo>
                <a:lnTo>
                  <a:pt x="4409456" y="0"/>
                </a:lnTo>
                <a:lnTo>
                  <a:pt x="4409456" y="648004"/>
                </a:lnTo>
                <a:lnTo>
                  <a:pt x="0" y="6480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0">
            <a:off x="10591802" y="10787234"/>
            <a:ext cx="4409456" cy="648005"/>
          </a:xfrm>
          <a:custGeom>
            <a:avLst/>
            <a:gdLst/>
            <a:ahLst/>
            <a:cxnLst/>
            <a:rect r="r" b="b" t="t" l="l"/>
            <a:pathLst>
              <a:path h="648005" w="4409456">
                <a:moveTo>
                  <a:pt x="0" y="0"/>
                </a:moveTo>
                <a:lnTo>
                  <a:pt x="4409456" y="0"/>
                </a:lnTo>
                <a:lnTo>
                  <a:pt x="4409456" y="648005"/>
                </a:lnTo>
                <a:lnTo>
                  <a:pt x="0" y="6480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6877236" y="11236539"/>
            <a:ext cx="2063186" cy="2586081"/>
          </a:xfrm>
          <a:custGeom>
            <a:avLst/>
            <a:gdLst/>
            <a:ahLst/>
            <a:cxnLst/>
            <a:rect r="r" b="b" t="t" l="l"/>
            <a:pathLst>
              <a:path h="2586081" w="2063186">
                <a:moveTo>
                  <a:pt x="0" y="0"/>
                </a:moveTo>
                <a:lnTo>
                  <a:pt x="2063186" y="0"/>
                </a:lnTo>
                <a:lnTo>
                  <a:pt x="2063186" y="2586081"/>
                </a:lnTo>
                <a:lnTo>
                  <a:pt x="0" y="2586081"/>
                </a:lnTo>
                <a:lnTo>
                  <a:pt x="0" y="0"/>
                </a:lnTo>
                <a:close/>
              </a:path>
            </a:pathLst>
          </a:custGeom>
          <a:blipFill>
            <a:blip r:embed="rId21"/>
            <a:stretch>
              <a:fillRect l="0" t="-734" r="0" b="-734"/>
            </a:stretch>
          </a:blipFill>
        </p:spPr>
      </p:sp>
      <p:sp>
        <p:nvSpPr>
          <p:cNvPr name="Freeform 26" id="26"/>
          <p:cNvSpPr/>
          <p:nvPr/>
        </p:nvSpPr>
        <p:spPr>
          <a:xfrm flipH="false" flipV="false" rot="0">
            <a:off x="10591802" y="5426735"/>
            <a:ext cx="4389436" cy="2461622"/>
          </a:xfrm>
          <a:custGeom>
            <a:avLst/>
            <a:gdLst/>
            <a:ahLst/>
            <a:cxnLst/>
            <a:rect r="r" b="b" t="t" l="l"/>
            <a:pathLst>
              <a:path h="2461622" w="4389436">
                <a:moveTo>
                  <a:pt x="0" y="0"/>
                </a:moveTo>
                <a:lnTo>
                  <a:pt x="4389437" y="0"/>
                </a:lnTo>
                <a:lnTo>
                  <a:pt x="4389437" y="2461622"/>
                </a:lnTo>
                <a:lnTo>
                  <a:pt x="0" y="2461622"/>
                </a:lnTo>
                <a:lnTo>
                  <a:pt x="0" y="0"/>
                </a:lnTo>
                <a:close/>
              </a:path>
            </a:pathLst>
          </a:custGeom>
          <a:blipFill>
            <a:blip r:embed="rId22"/>
            <a:stretch>
              <a:fillRect l="-268" t="-571" r="0" b="0"/>
            </a:stretch>
          </a:blipFill>
        </p:spPr>
      </p:sp>
      <p:sp>
        <p:nvSpPr>
          <p:cNvPr name="Freeform 27" id="27"/>
          <p:cNvSpPr/>
          <p:nvPr/>
        </p:nvSpPr>
        <p:spPr>
          <a:xfrm flipH="false" flipV="false" rot="0">
            <a:off x="10579366" y="8126482"/>
            <a:ext cx="4401873" cy="2418451"/>
          </a:xfrm>
          <a:custGeom>
            <a:avLst/>
            <a:gdLst/>
            <a:ahLst/>
            <a:cxnLst/>
            <a:rect r="r" b="b" t="t" l="l"/>
            <a:pathLst>
              <a:path h="2418451" w="4401873">
                <a:moveTo>
                  <a:pt x="0" y="0"/>
                </a:moveTo>
                <a:lnTo>
                  <a:pt x="4401873" y="0"/>
                </a:lnTo>
                <a:lnTo>
                  <a:pt x="4401873" y="2418451"/>
                </a:lnTo>
                <a:lnTo>
                  <a:pt x="0" y="2418451"/>
                </a:lnTo>
                <a:lnTo>
                  <a:pt x="0" y="0"/>
                </a:lnTo>
                <a:close/>
              </a:path>
            </a:pathLst>
          </a:custGeom>
          <a:blipFill>
            <a:blip r:embed="rId23"/>
            <a:stretch>
              <a:fillRect l="0" t="-1190" r="0" b="-1190"/>
            </a:stretch>
          </a:blipFill>
        </p:spPr>
      </p:sp>
      <p:sp>
        <p:nvSpPr>
          <p:cNvPr name="Freeform 28" id="28"/>
          <p:cNvSpPr/>
          <p:nvPr/>
        </p:nvSpPr>
        <p:spPr>
          <a:xfrm flipH="false" flipV="false" rot="0">
            <a:off x="5909133" y="6457253"/>
            <a:ext cx="4436713" cy="2931131"/>
          </a:xfrm>
          <a:custGeom>
            <a:avLst/>
            <a:gdLst/>
            <a:ahLst/>
            <a:cxnLst/>
            <a:rect r="r" b="b" t="t" l="l"/>
            <a:pathLst>
              <a:path h="2931131" w="4436713">
                <a:moveTo>
                  <a:pt x="0" y="0"/>
                </a:moveTo>
                <a:lnTo>
                  <a:pt x="4436713" y="0"/>
                </a:lnTo>
                <a:lnTo>
                  <a:pt x="4436713" y="2931132"/>
                </a:lnTo>
                <a:lnTo>
                  <a:pt x="0" y="2931132"/>
                </a:lnTo>
                <a:lnTo>
                  <a:pt x="0" y="0"/>
                </a:lnTo>
                <a:close/>
              </a:path>
            </a:pathLst>
          </a:custGeom>
          <a:blipFill>
            <a:blip r:embed="rId24"/>
            <a:stretch>
              <a:fillRect l="0" t="0" r="0" b="0"/>
            </a:stretch>
          </a:blipFill>
        </p:spPr>
      </p:sp>
      <p:sp>
        <p:nvSpPr>
          <p:cNvPr name="TextBox 29" id="29"/>
          <p:cNvSpPr txBox="true"/>
          <p:nvPr/>
        </p:nvSpPr>
        <p:spPr>
          <a:xfrm rot="0">
            <a:off x="7086748" y="360116"/>
            <a:ext cx="7010109" cy="500482"/>
          </a:xfrm>
          <a:prstGeom prst="rect">
            <a:avLst/>
          </a:prstGeom>
        </p:spPr>
        <p:txBody>
          <a:bodyPr anchor="t" rtlCol="false" tIns="0" lIns="0" bIns="0" rIns="0">
            <a:spAutoFit/>
          </a:bodyPr>
          <a:lstStyle/>
          <a:p>
            <a:pPr algn="l">
              <a:lnSpc>
                <a:spcPts val="3914"/>
              </a:lnSpc>
            </a:pPr>
            <a:r>
              <a:rPr lang="en-US" b="true" sz="2795" spc="2">
                <a:solidFill>
                  <a:srgbClr val="FFFFFF"/>
                </a:solidFill>
                <a:latin typeface="Arial Bold"/>
                <a:ea typeface="Arial Bold"/>
                <a:cs typeface="Arial Bold"/>
                <a:sym typeface="Arial Bold"/>
              </a:rPr>
              <a:t>AWS Serverless Voice Recipe Assistant</a:t>
            </a:r>
          </a:p>
        </p:txBody>
      </p:sp>
      <p:sp>
        <p:nvSpPr>
          <p:cNvPr name="TextBox 30" id="30"/>
          <p:cNvSpPr txBox="true"/>
          <p:nvPr/>
        </p:nvSpPr>
        <p:spPr>
          <a:xfrm rot="0">
            <a:off x="7307723" y="879648"/>
            <a:ext cx="6062615" cy="316505"/>
          </a:xfrm>
          <a:prstGeom prst="rect">
            <a:avLst/>
          </a:prstGeom>
        </p:spPr>
        <p:txBody>
          <a:bodyPr anchor="t" rtlCol="false" tIns="0" lIns="0" bIns="0" rIns="0">
            <a:spAutoFit/>
          </a:bodyPr>
          <a:lstStyle/>
          <a:p>
            <a:pPr algn="l">
              <a:lnSpc>
                <a:spcPts val="2603"/>
              </a:lnSpc>
            </a:pPr>
            <a:r>
              <a:rPr lang="en-US" sz="1495">
                <a:solidFill>
                  <a:srgbClr val="FFFFFF"/>
                </a:solidFill>
                <a:latin typeface="Arial"/>
                <a:ea typeface="Arial"/>
                <a:cs typeface="Arial"/>
                <a:sym typeface="Arial"/>
              </a:rPr>
              <a:t>   </a:t>
            </a:r>
            <a:r>
              <a:rPr lang="en-US" b="true" sz="1495">
                <a:solidFill>
                  <a:srgbClr val="FFFFFF"/>
                </a:solidFill>
                <a:latin typeface="Arial Bold"/>
                <a:ea typeface="Arial Bold"/>
                <a:cs typeface="Arial Bold"/>
                <a:sym typeface="Arial Bold"/>
              </a:rPr>
              <a:t>Name of the Student</a:t>
            </a:r>
            <a:r>
              <a:rPr lang="en-US" sz="1495">
                <a:solidFill>
                  <a:srgbClr val="FFFFFF"/>
                </a:solidFill>
                <a:latin typeface="Arial"/>
                <a:ea typeface="Arial"/>
                <a:cs typeface="Arial"/>
                <a:sym typeface="Arial"/>
              </a:rPr>
              <a:t>: </a:t>
            </a:r>
            <a:r>
              <a:rPr lang="en-US" b="true" sz="1495">
                <a:solidFill>
                  <a:srgbClr val="FFFFFF"/>
                </a:solidFill>
                <a:latin typeface="Arial Bold"/>
                <a:ea typeface="Arial Bold"/>
                <a:cs typeface="Arial Bold"/>
                <a:sym typeface="Arial Bold"/>
              </a:rPr>
              <a:t>Akula Srinithya</a:t>
            </a:r>
            <a:r>
              <a:rPr lang="en-US" sz="1495">
                <a:solidFill>
                  <a:srgbClr val="FFFFFF"/>
                </a:solidFill>
                <a:latin typeface="Arial"/>
                <a:ea typeface="Arial"/>
                <a:cs typeface="Arial"/>
                <a:sym typeface="Arial"/>
              </a:rPr>
              <a:t>, </a:t>
            </a:r>
            <a:r>
              <a:rPr lang="en-US" b="true" sz="1495">
                <a:solidFill>
                  <a:srgbClr val="FFFFFF"/>
                </a:solidFill>
                <a:latin typeface="Arial Bold"/>
                <a:ea typeface="Arial Bold"/>
                <a:cs typeface="Arial Bold"/>
                <a:sym typeface="Arial Bold"/>
              </a:rPr>
              <a:t>SAP ID:705722400013</a:t>
            </a:r>
            <a:r>
              <a:rPr lang="en-US" sz="1495">
                <a:solidFill>
                  <a:srgbClr val="FFFFFF"/>
                </a:solidFill>
                <a:latin typeface="Arial"/>
                <a:ea typeface="Arial"/>
                <a:cs typeface="Arial"/>
                <a:sym typeface="Arial"/>
              </a:rPr>
              <a:t> </a:t>
            </a:r>
          </a:p>
        </p:txBody>
      </p:sp>
      <p:sp>
        <p:nvSpPr>
          <p:cNvPr name="TextBox 31" id="31"/>
          <p:cNvSpPr txBox="true"/>
          <p:nvPr/>
        </p:nvSpPr>
        <p:spPr>
          <a:xfrm rot="0">
            <a:off x="8127230" y="1092494"/>
            <a:ext cx="4334961" cy="315956"/>
          </a:xfrm>
          <a:prstGeom prst="rect">
            <a:avLst/>
          </a:prstGeom>
        </p:spPr>
        <p:txBody>
          <a:bodyPr anchor="t" rtlCol="false" tIns="0" lIns="0" bIns="0" rIns="0">
            <a:spAutoFit/>
          </a:bodyPr>
          <a:lstStyle/>
          <a:p>
            <a:pPr algn="l">
              <a:lnSpc>
                <a:spcPts val="2616"/>
              </a:lnSpc>
            </a:pPr>
            <a:r>
              <a:rPr lang="en-US" b="true" sz="1503">
                <a:solidFill>
                  <a:srgbClr val="FFFFFF"/>
                </a:solidFill>
                <a:latin typeface="Arial Bold"/>
                <a:ea typeface="Arial Bold"/>
                <a:cs typeface="Arial Bold"/>
                <a:sym typeface="Arial Bold"/>
              </a:rPr>
              <a:t>Name of the Supervisor: Dr.Naresh Vurukonda</a:t>
            </a:r>
            <a:r>
              <a:rPr lang="en-US" b="true" sz="1503">
                <a:solidFill>
                  <a:srgbClr val="000000"/>
                </a:solidFill>
                <a:latin typeface="Arial Bold"/>
                <a:ea typeface="Arial Bold"/>
                <a:cs typeface="Arial Bold"/>
                <a:sym typeface="Arial Bold"/>
              </a:rPr>
              <a:t> </a:t>
            </a:r>
          </a:p>
        </p:txBody>
      </p:sp>
      <p:sp>
        <p:nvSpPr>
          <p:cNvPr name="TextBox 32" id="32"/>
          <p:cNvSpPr txBox="true"/>
          <p:nvPr/>
        </p:nvSpPr>
        <p:spPr>
          <a:xfrm rot="0">
            <a:off x="7463495" y="1507602"/>
            <a:ext cx="5523414" cy="189372"/>
          </a:xfrm>
          <a:prstGeom prst="rect">
            <a:avLst/>
          </a:prstGeom>
        </p:spPr>
        <p:txBody>
          <a:bodyPr anchor="t" rtlCol="false" tIns="0" lIns="0" bIns="0" rIns="0">
            <a:spAutoFit/>
          </a:bodyPr>
          <a:lstStyle/>
          <a:p>
            <a:pPr algn="l">
              <a:lnSpc>
                <a:spcPts val="1279"/>
              </a:lnSpc>
            </a:pPr>
            <a:r>
              <a:rPr lang="en-US" b="true" sz="1495" spc="35">
                <a:solidFill>
                  <a:srgbClr val="FFFFFF"/>
                </a:solidFill>
                <a:latin typeface="Arial Bold"/>
                <a:ea typeface="Arial Bold"/>
                <a:cs typeface="Arial Bold"/>
                <a:sym typeface="Arial Bold"/>
              </a:rPr>
              <a:t>Department of CSE Data Science, Hyderabad Campus</a:t>
            </a:r>
            <a:r>
              <a:rPr lang="en-US" b="true" sz="1495" spc="35">
                <a:solidFill>
                  <a:srgbClr val="000000"/>
                </a:solidFill>
                <a:latin typeface="Arial Bold"/>
                <a:ea typeface="Arial Bold"/>
                <a:cs typeface="Arial Bold"/>
                <a:sym typeface="Arial Bold"/>
              </a:rPr>
              <a:t> </a:t>
            </a:r>
          </a:p>
        </p:txBody>
      </p:sp>
      <p:sp>
        <p:nvSpPr>
          <p:cNvPr name="TextBox 33" id="33"/>
          <p:cNvSpPr txBox="true"/>
          <p:nvPr/>
        </p:nvSpPr>
        <p:spPr>
          <a:xfrm rot="0">
            <a:off x="10783186" y="12404874"/>
            <a:ext cx="41481" cy="182061"/>
          </a:xfrm>
          <a:prstGeom prst="rect">
            <a:avLst/>
          </a:prstGeom>
        </p:spPr>
        <p:txBody>
          <a:bodyPr anchor="t" rtlCol="false" tIns="0" lIns="0" bIns="0" rIns="0">
            <a:spAutoFit/>
          </a:bodyPr>
          <a:lstStyle/>
          <a:p>
            <a:pPr algn="l">
              <a:lnSpc>
                <a:spcPts val="1310"/>
              </a:lnSpc>
            </a:pPr>
            <a:r>
              <a:rPr lang="en-US" sz="1152">
                <a:solidFill>
                  <a:srgbClr val="000000"/>
                </a:solidFill>
                <a:latin typeface="Arial"/>
                <a:ea typeface="Arial"/>
                <a:cs typeface="Arial"/>
                <a:sym typeface="Arial"/>
              </a:rPr>
              <a:t> </a:t>
            </a:r>
          </a:p>
        </p:txBody>
      </p:sp>
      <p:sp>
        <p:nvSpPr>
          <p:cNvPr name="TextBox 34" id="34"/>
          <p:cNvSpPr txBox="true"/>
          <p:nvPr/>
        </p:nvSpPr>
        <p:spPr>
          <a:xfrm rot="0">
            <a:off x="594951" y="2586253"/>
            <a:ext cx="3734581" cy="3231622"/>
          </a:xfrm>
          <a:prstGeom prst="rect">
            <a:avLst/>
          </a:prstGeom>
        </p:spPr>
        <p:txBody>
          <a:bodyPr anchor="t" rtlCol="false" tIns="0" lIns="0" bIns="0" rIns="0">
            <a:spAutoFit/>
          </a:bodyPr>
          <a:lstStyle/>
          <a:p>
            <a:pPr algn="l">
              <a:lnSpc>
                <a:spcPts val="2805"/>
              </a:lnSpc>
            </a:pPr>
            <a:r>
              <a:rPr lang="en-US" b="true" sz="2004" spc="6">
                <a:solidFill>
                  <a:srgbClr val="000000"/>
                </a:solidFill>
                <a:latin typeface="Arial Bold"/>
                <a:ea typeface="Arial Bold"/>
                <a:cs typeface="Arial Bold"/>
                <a:sym typeface="Arial Bold"/>
              </a:rPr>
              <a:t>About the Project</a:t>
            </a:r>
            <a:r>
              <a:rPr lang="en-US" b="true" sz="2004" spc="6">
                <a:solidFill>
                  <a:srgbClr val="000000"/>
                </a:solidFill>
                <a:latin typeface="Arial Bold"/>
                <a:ea typeface="Arial Bold"/>
                <a:cs typeface="Arial Bold"/>
                <a:sym typeface="Arial Bold"/>
              </a:rPr>
              <a:t> </a:t>
            </a:r>
          </a:p>
          <a:p>
            <a:pPr algn="l">
              <a:lnSpc>
                <a:spcPts val="1509"/>
              </a:lnSpc>
            </a:pPr>
            <a:r>
              <a:rPr lang="en-US" sz="1251">
                <a:solidFill>
                  <a:srgbClr val="000000"/>
                </a:solidFill>
                <a:latin typeface="Arial"/>
                <a:ea typeface="Arial"/>
                <a:cs typeface="Arial"/>
                <a:sym typeface="Arial"/>
              </a:rPr>
              <a:t>The Voice Recipe Assistant is a modern, serverless web application designed to simulate a conversational AI kitchen helper. The system leverages a powerful combination of AWS services to create an intelligent and interactive user experience. At its core, the project uses Amazon Lex V2 for Natural Language Understanding (NLU), allowing it to interpret user requests for recipes, ingredients, or cooking steps. It uses Amazon Polly to convert the bot's text-based answers into natural, lifelike speech, making the application accessible and hands-free. The entire application is serverless, with the frontend hosted on Amazon S3, backend logic on AWS Lambda, and security managed by Amazon Cognito and IAM </a:t>
            </a:r>
          </a:p>
        </p:txBody>
      </p:sp>
      <p:sp>
        <p:nvSpPr>
          <p:cNvPr name="TextBox 35" id="35"/>
          <p:cNvSpPr txBox="true"/>
          <p:nvPr/>
        </p:nvSpPr>
        <p:spPr>
          <a:xfrm rot="0">
            <a:off x="594951" y="5806222"/>
            <a:ext cx="3722780" cy="1707702"/>
          </a:xfrm>
          <a:prstGeom prst="rect">
            <a:avLst/>
          </a:prstGeom>
        </p:spPr>
        <p:txBody>
          <a:bodyPr anchor="t" rtlCol="false" tIns="0" lIns="0" bIns="0" rIns="0">
            <a:spAutoFit/>
          </a:bodyPr>
          <a:lstStyle/>
          <a:p>
            <a:pPr algn="just">
              <a:lnSpc>
                <a:spcPts val="2805"/>
              </a:lnSpc>
            </a:pPr>
            <a:r>
              <a:rPr lang="en-US" b="true" sz="2004" spc="6">
                <a:solidFill>
                  <a:srgbClr val="000000"/>
                </a:solidFill>
                <a:latin typeface="Arial Bold"/>
                <a:ea typeface="Arial Bold"/>
                <a:cs typeface="Arial Bold"/>
                <a:sym typeface="Arial Bold"/>
              </a:rPr>
              <a:t>Objective of the Project</a:t>
            </a:r>
            <a:r>
              <a:rPr lang="en-US" b="true" sz="2004" spc="6">
                <a:solidFill>
                  <a:srgbClr val="000000"/>
                </a:solidFill>
                <a:latin typeface="Arial Bold"/>
                <a:ea typeface="Arial Bold"/>
                <a:cs typeface="Arial Bold"/>
                <a:sym typeface="Arial Bold"/>
              </a:rPr>
              <a:t> </a:t>
            </a:r>
          </a:p>
          <a:p>
            <a:pPr algn="just">
              <a:lnSpc>
                <a:spcPts val="1508"/>
              </a:lnSpc>
            </a:pPr>
            <a:r>
              <a:rPr lang="en-US" sz="1251">
                <a:solidFill>
                  <a:srgbClr val="000000"/>
                </a:solidFill>
                <a:latin typeface="Arial"/>
                <a:ea typeface="Arial"/>
                <a:cs typeface="Arial"/>
                <a:sym typeface="Arial"/>
              </a:rPr>
              <a:t>TThe primary objective of this project is to build a web-based, voice-enabled conversational assistant using AWS services. The goal is to allow users to input text and receive a helpful, context-aware audio-visual response in real-time, ensuring a smooth, scalable, and intelligent serverless experience</a:t>
            </a:r>
          </a:p>
        </p:txBody>
      </p:sp>
      <p:sp>
        <p:nvSpPr>
          <p:cNvPr name="TextBox 36" id="36"/>
          <p:cNvSpPr txBox="true"/>
          <p:nvPr/>
        </p:nvSpPr>
        <p:spPr>
          <a:xfrm rot="0">
            <a:off x="15307056" y="4225876"/>
            <a:ext cx="2097191" cy="457251"/>
          </a:xfrm>
          <a:prstGeom prst="rect">
            <a:avLst/>
          </a:prstGeom>
        </p:spPr>
        <p:txBody>
          <a:bodyPr anchor="t" rtlCol="false" tIns="0" lIns="0" bIns="0" rIns="0">
            <a:spAutoFit/>
          </a:bodyPr>
          <a:lstStyle/>
          <a:p>
            <a:pPr algn="l">
              <a:lnSpc>
                <a:spcPts val="1769"/>
              </a:lnSpc>
            </a:pPr>
            <a:r>
              <a:rPr lang="en-US" sz="1599">
                <a:solidFill>
                  <a:srgbClr val="000000"/>
                </a:solidFill>
                <a:latin typeface="Arial"/>
                <a:ea typeface="Arial"/>
                <a:cs typeface="Arial"/>
                <a:sym typeface="Arial"/>
              </a:rPr>
              <a:t> </a:t>
            </a:r>
          </a:p>
          <a:p>
            <a:pPr algn="l">
              <a:lnSpc>
                <a:spcPts val="1769"/>
              </a:lnSpc>
            </a:pPr>
            <a:r>
              <a:rPr lang="en-US" b="true" sz="1599">
                <a:solidFill>
                  <a:srgbClr val="000000"/>
                </a:solidFill>
                <a:latin typeface="Arial Bold"/>
                <a:ea typeface="Arial Bold"/>
                <a:cs typeface="Arial Bold"/>
                <a:sym typeface="Arial Bold"/>
              </a:rPr>
              <a:t>Future Scope</a:t>
            </a:r>
          </a:p>
        </p:txBody>
      </p:sp>
      <p:sp>
        <p:nvSpPr>
          <p:cNvPr name="TextBox 37" id="37"/>
          <p:cNvSpPr txBox="true"/>
          <p:nvPr/>
        </p:nvSpPr>
        <p:spPr>
          <a:xfrm rot="0">
            <a:off x="15307056" y="2488492"/>
            <a:ext cx="4734436" cy="1856816"/>
          </a:xfrm>
          <a:prstGeom prst="rect">
            <a:avLst/>
          </a:prstGeom>
        </p:spPr>
        <p:txBody>
          <a:bodyPr anchor="t" rtlCol="false" tIns="0" lIns="0" bIns="0" rIns="0">
            <a:spAutoFit/>
          </a:bodyPr>
          <a:lstStyle/>
          <a:p>
            <a:pPr algn="just">
              <a:lnSpc>
                <a:spcPts val="2239"/>
              </a:lnSpc>
            </a:pPr>
            <a:r>
              <a:rPr lang="en-US" b="true" sz="1599">
                <a:solidFill>
                  <a:srgbClr val="000000"/>
                </a:solidFill>
                <a:latin typeface="Arial Bold"/>
                <a:ea typeface="Arial Bold"/>
                <a:cs typeface="Arial Bold"/>
                <a:sym typeface="Arial Bold"/>
              </a:rPr>
              <a:t>Discussion/Conclusion </a:t>
            </a:r>
          </a:p>
          <a:p>
            <a:pPr algn="just">
              <a:lnSpc>
                <a:spcPts val="1378"/>
              </a:lnSpc>
            </a:pPr>
            <a:r>
              <a:rPr lang="en-US" sz="1200">
                <a:solidFill>
                  <a:srgbClr val="000000"/>
                </a:solidFill>
                <a:latin typeface="Arial"/>
                <a:ea typeface="Arial"/>
                <a:cs typeface="Arial"/>
                <a:sym typeface="Arial"/>
              </a:rPr>
              <a:t>This project successfully demonstrates the power of "stitching together" multiple managed services to create a complex, intelligent, and feature-rich application. By integrating Amazon Lex for conversational AI, Amazon Polly for voice, AWS Lambda for logic, and the Spoonacular API for data, we built a "Voice Recipe Assistant" that is both highly functional and user-friendly. The serverless architecture proves to be the ideal model for this application, offering immense scalability, low operational overhead, and a cost-effective pay-per-use model.. </a:t>
            </a:r>
          </a:p>
        </p:txBody>
      </p:sp>
      <p:sp>
        <p:nvSpPr>
          <p:cNvPr name="TextBox 38" id="38"/>
          <p:cNvSpPr txBox="true"/>
          <p:nvPr/>
        </p:nvSpPr>
        <p:spPr>
          <a:xfrm rot="0">
            <a:off x="15818863" y="6862039"/>
            <a:ext cx="3427000" cy="347767"/>
          </a:xfrm>
          <a:prstGeom prst="rect">
            <a:avLst/>
          </a:prstGeom>
        </p:spPr>
        <p:txBody>
          <a:bodyPr anchor="t" rtlCol="false" tIns="0" lIns="0" bIns="0" rIns="0">
            <a:spAutoFit/>
          </a:bodyPr>
          <a:lstStyle/>
          <a:p>
            <a:pPr algn="l">
              <a:lnSpc>
                <a:spcPts val="2805"/>
              </a:lnSpc>
            </a:pPr>
            <a:r>
              <a:rPr lang="en-US" b="true" sz="2004" spc="2">
                <a:solidFill>
                  <a:srgbClr val="FFFFFF"/>
                </a:solidFill>
                <a:latin typeface="Arial Bold"/>
                <a:ea typeface="Arial Bold"/>
                <a:cs typeface="Arial Bold"/>
                <a:sym typeface="Arial Bold"/>
              </a:rPr>
              <a:t>References and Affiliations</a:t>
            </a:r>
            <a:r>
              <a:rPr lang="en-US" b="true" sz="2004" spc="2">
                <a:solidFill>
                  <a:srgbClr val="000000"/>
                </a:solidFill>
                <a:latin typeface="Arial Bold"/>
                <a:ea typeface="Arial Bold"/>
                <a:cs typeface="Arial Bold"/>
                <a:sym typeface="Arial Bold"/>
              </a:rPr>
              <a:t> </a:t>
            </a:r>
          </a:p>
        </p:txBody>
      </p:sp>
      <p:sp>
        <p:nvSpPr>
          <p:cNvPr name="TextBox 39" id="39"/>
          <p:cNvSpPr txBox="true"/>
          <p:nvPr/>
        </p:nvSpPr>
        <p:spPr>
          <a:xfrm rot="0">
            <a:off x="10524372" y="2685259"/>
            <a:ext cx="4213974" cy="1923255"/>
          </a:xfrm>
          <a:prstGeom prst="rect">
            <a:avLst/>
          </a:prstGeom>
        </p:spPr>
        <p:txBody>
          <a:bodyPr anchor="t" rtlCol="false" tIns="0" lIns="0" bIns="0" rIns="0">
            <a:spAutoFit/>
          </a:bodyPr>
          <a:lstStyle/>
          <a:p>
            <a:pPr algn="just">
              <a:lnSpc>
                <a:spcPts val="1508"/>
              </a:lnSpc>
            </a:pPr>
            <a:r>
              <a:rPr lang="en-US" b="true" sz="1251" spc="10">
                <a:solidFill>
                  <a:srgbClr val="000000"/>
                </a:solidFill>
                <a:latin typeface="Arial Bold"/>
                <a:ea typeface="Arial Bold"/>
                <a:cs typeface="Arial Bold"/>
                <a:sym typeface="Arial Bold"/>
              </a:rPr>
              <a:t>W</a:t>
            </a:r>
            <a:r>
              <a:rPr lang="en-US" b="true" sz="1251" spc="10">
                <a:solidFill>
                  <a:srgbClr val="000000"/>
                </a:solidFill>
                <a:latin typeface="Arial Bold"/>
                <a:ea typeface="Arial Bold"/>
                <a:cs typeface="Arial Bold"/>
                <a:sym typeface="Arial Bold"/>
              </a:rPr>
              <a:t>orkflow Description:</a:t>
            </a:r>
            <a:r>
              <a:rPr lang="en-US" sz="1251" spc="10">
                <a:solidFill>
                  <a:srgbClr val="000000"/>
                </a:solidFill>
                <a:latin typeface="Arial"/>
                <a:ea typeface="Arial"/>
                <a:cs typeface="Arial"/>
                <a:sym typeface="Arial"/>
              </a:rPr>
              <a:t>The user accesses the web app hosted on Amazon S3 and authenticates via Amazon Cognito. They send a text request, which Amazon Lex processes. Lex invokes an AWS Lambda function, which then queries the Spoonacular API for the recipe data. Lambda formats this data (title, image, steps) and returns it to Lex, which sends it to the web app for display. Simultaneously, the text response is sent to Amazon Polly, which synthesizes it into an audio stream for the user to hear</a:t>
            </a:r>
          </a:p>
        </p:txBody>
      </p:sp>
      <p:sp>
        <p:nvSpPr>
          <p:cNvPr name="TextBox 40" id="40"/>
          <p:cNvSpPr txBox="true"/>
          <p:nvPr/>
        </p:nvSpPr>
        <p:spPr>
          <a:xfrm rot="0">
            <a:off x="15610075" y="7863230"/>
            <a:ext cx="64818" cy="279111"/>
          </a:xfrm>
          <a:prstGeom prst="rect">
            <a:avLst/>
          </a:prstGeom>
        </p:spPr>
        <p:txBody>
          <a:bodyPr anchor="t" rtlCol="false" tIns="0" lIns="0" bIns="0" rIns="0">
            <a:spAutoFit/>
          </a:bodyPr>
          <a:lstStyle/>
          <a:p>
            <a:pPr algn="l">
              <a:lnSpc>
                <a:spcPts val="2012"/>
              </a:lnSpc>
            </a:pPr>
            <a:r>
              <a:rPr lang="en-US" b="true" sz="1800">
                <a:solidFill>
                  <a:srgbClr val="000000"/>
                </a:solidFill>
                <a:latin typeface="Arial Bold"/>
                <a:ea typeface="Arial Bold"/>
                <a:cs typeface="Arial Bold"/>
                <a:sym typeface="Arial Bold"/>
              </a:rPr>
              <a:t> </a:t>
            </a:r>
          </a:p>
        </p:txBody>
      </p:sp>
      <p:sp>
        <p:nvSpPr>
          <p:cNvPr name="TextBox 41" id="41"/>
          <p:cNvSpPr txBox="true"/>
          <p:nvPr/>
        </p:nvSpPr>
        <p:spPr>
          <a:xfrm rot="0">
            <a:off x="1591199" y="9966989"/>
            <a:ext cx="38033" cy="167688"/>
          </a:xfrm>
          <a:prstGeom prst="rect">
            <a:avLst/>
          </a:prstGeom>
        </p:spPr>
        <p:txBody>
          <a:bodyPr anchor="t" rtlCol="false" tIns="0" lIns="0" bIns="0" rIns="0">
            <a:spAutoFit/>
          </a:bodyPr>
          <a:lstStyle/>
          <a:p>
            <a:pPr algn="l">
              <a:lnSpc>
                <a:spcPts val="1259"/>
              </a:lnSpc>
            </a:pPr>
            <a:r>
              <a:rPr lang="en-US" b="true" sz="1056">
                <a:solidFill>
                  <a:srgbClr val="000000"/>
                </a:solidFill>
                <a:latin typeface="Arial Bold"/>
                <a:ea typeface="Arial Bold"/>
                <a:cs typeface="Arial Bold"/>
                <a:sym typeface="Arial Bold"/>
              </a:rPr>
              <a:t> </a:t>
            </a:r>
          </a:p>
        </p:txBody>
      </p:sp>
      <p:sp>
        <p:nvSpPr>
          <p:cNvPr name="TextBox 42" id="42"/>
          <p:cNvSpPr txBox="true"/>
          <p:nvPr/>
        </p:nvSpPr>
        <p:spPr>
          <a:xfrm rot="0">
            <a:off x="6114916" y="2556621"/>
            <a:ext cx="2296567" cy="257277"/>
          </a:xfrm>
          <a:prstGeom prst="rect">
            <a:avLst/>
          </a:prstGeom>
        </p:spPr>
        <p:txBody>
          <a:bodyPr anchor="t" rtlCol="false" tIns="0" lIns="0" bIns="0" rIns="0">
            <a:spAutoFit/>
          </a:bodyPr>
          <a:lstStyle/>
          <a:p>
            <a:pPr algn="l">
              <a:lnSpc>
                <a:spcPts val="2094"/>
              </a:lnSpc>
            </a:pPr>
            <a:r>
              <a:rPr lang="en-US" b="true" sz="1495" spc="4">
                <a:solidFill>
                  <a:srgbClr val="000000"/>
                </a:solidFill>
                <a:latin typeface="Arial Bold"/>
                <a:ea typeface="Arial Bold"/>
                <a:cs typeface="Arial Bold"/>
                <a:sym typeface="Arial Bold"/>
              </a:rPr>
              <a:t>Architecture Flow chart</a:t>
            </a:r>
          </a:p>
        </p:txBody>
      </p:sp>
      <p:sp>
        <p:nvSpPr>
          <p:cNvPr name="TextBox 43" id="43"/>
          <p:cNvSpPr txBox="true"/>
          <p:nvPr/>
        </p:nvSpPr>
        <p:spPr>
          <a:xfrm rot="0">
            <a:off x="15307056" y="4797427"/>
            <a:ext cx="4528854" cy="1978964"/>
          </a:xfrm>
          <a:prstGeom prst="rect">
            <a:avLst/>
          </a:prstGeom>
        </p:spPr>
        <p:txBody>
          <a:bodyPr anchor="t" rtlCol="false" tIns="0" lIns="0" bIns="0" rIns="0">
            <a:spAutoFit/>
          </a:bodyPr>
          <a:lstStyle/>
          <a:p>
            <a:pPr algn="just">
              <a:lnSpc>
                <a:spcPts val="1320"/>
              </a:lnSpc>
            </a:pPr>
            <a:r>
              <a:rPr lang="en-US" sz="1147">
                <a:solidFill>
                  <a:srgbClr val="000000"/>
                </a:solidFill>
                <a:latin typeface="Arial"/>
                <a:ea typeface="Arial"/>
                <a:cs typeface="Arial"/>
                <a:sym typeface="Arial"/>
              </a:rPr>
              <a:t>Ful</a:t>
            </a:r>
            <a:r>
              <a:rPr lang="en-US" sz="1147">
                <a:solidFill>
                  <a:srgbClr val="000000"/>
                </a:solidFill>
                <a:latin typeface="Arial"/>
                <a:ea typeface="Arial"/>
                <a:cs typeface="Arial"/>
                <a:sym typeface="Arial"/>
              </a:rPr>
              <a:t>l Voice-to-Voice: Integrating Amazon Transcribe to convert the user's spoken words into text, for a truly hands-free experience.</a:t>
            </a:r>
          </a:p>
          <a:p>
            <a:pPr algn="just">
              <a:lnSpc>
                <a:spcPts val="1320"/>
              </a:lnSpc>
            </a:pPr>
          </a:p>
          <a:p>
            <a:pPr algn="just">
              <a:lnSpc>
                <a:spcPts val="1320"/>
              </a:lnSpc>
            </a:pPr>
            <a:r>
              <a:rPr lang="en-US" sz="1147">
                <a:solidFill>
                  <a:srgbClr val="000000"/>
                </a:solidFill>
                <a:latin typeface="Arial"/>
                <a:ea typeface="Arial"/>
                <a:cs typeface="Arial"/>
                <a:sym typeface="Arial"/>
              </a:rPr>
              <a:t>User Profiles &amp; Favorites: Using Amazon DynamoDB to store user profiles, allowing them to save favorite recipes or set permanent dietary preferences.</a:t>
            </a:r>
          </a:p>
          <a:p>
            <a:pPr algn="just">
              <a:lnSpc>
                <a:spcPts val="1435"/>
              </a:lnSpc>
            </a:pPr>
          </a:p>
          <a:p>
            <a:pPr algn="just">
              <a:lnSpc>
                <a:spcPts val="1320"/>
              </a:lnSpc>
            </a:pPr>
            <a:r>
              <a:rPr lang="en-US" sz="1147">
                <a:solidFill>
                  <a:srgbClr val="000000"/>
                </a:solidFill>
                <a:latin typeface="Arial"/>
                <a:ea typeface="Arial"/>
                <a:cs typeface="Arial"/>
                <a:sym typeface="Arial"/>
              </a:rPr>
              <a:t>Step-by-Step Cooking Mode: Enhancing the Lex bot and Lambda function to guide a user through a recipe one step at a time.</a:t>
            </a:r>
          </a:p>
          <a:p>
            <a:pPr algn="just">
              <a:lnSpc>
                <a:spcPts val="1320"/>
              </a:lnSpc>
            </a:pPr>
          </a:p>
          <a:p>
            <a:pPr algn="just">
              <a:lnSpc>
                <a:spcPts val="1320"/>
              </a:lnSpc>
            </a:pPr>
          </a:p>
          <a:p>
            <a:pPr algn="just">
              <a:lnSpc>
                <a:spcPts val="1320"/>
              </a:lnSpc>
            </a:pPr>
          </a:p>
        </p:txBody>
      </p:sp>
      <p:sp>
        <p:nvSpPr>
          <p:cNvPr name="TextBox 44" id="44"/>
          <p:cNvSpPr txBox="true"/>
          <p:nvPr/>
        </p:nvSpPr>
        <p:spPr>
          <a:xfrm rot="0">
            <a:off x="15610075" y="7401978"/>
            <a:ext cx="1322394" cy="326736"/>
          </a:xfrm>
          <a:prstGeom prst="rect">
            <a:avLst/>
          </a:prstGeom>
        </p:spPr>
        <p:txBody>
          <a:bodyPr anchor="t" rtlCol="false" tIns="0" lIns="0" bIns="0" rIns="0">
            <a:spAutoFit/>
          </a:bodyPr>
          <a:lstStyle/>
          <a:p>
            <a:pPr algn="l">
              <a:lnSpc>
                <a:spcPts val="2520"/>
              </a:lnSpc>
            </a:pPr>
            <a:r>
              <a:rPr lang="en-US" b="true" sz="1800">
                <a:solidFill>
                  <a:srgbClr val="000000"/>
                </a:solidFill>
                <a:latin typeface="Arial Bold"/>
                <a:ea typeface="Arial Bold"/>
                <a:cs typeface="Arial Bold"/>
                <a:sym typeface="Arial Bold"/>
              </a:rPr>
              <a:t>References </a:t>
            </a:r>
          </a:p>
        </p:txBody>
      </p:sp>
      <p:sp>
        <p:nvSpPr>
          <p:cNvPr name="TextBox 45" id="45"/>
          <p:cNvSpPr txBox="true"/>
          <p:nvPr/>
        </p:nvSpPr>
        <p:spPr>
          <a:xfrm rot="0">
            <a:off x="1822704" y="1927812"/>
            <a:ext cx="1741084" cy="386048"/>
          </a:xfrm>
          <a:prstGeom prst="rect">
            <a:avLst/>
          </a:prstGeom>
        </p:spPr>
        <p:txBody>
          <a:bodyPr anchor="t" rtlCol="false" tIns="0" lIns="0" bIns="0" rIns="0">
            <a:spAutoFit/>
          </a:bodyPr>
          <a:lstStyle/>
          <a:p>
            <a:pPr algn="l">
              <a:lnSpc>
                <a:spcPts val="3074"/>
              </a:lnSpc>
            </a:pPr>
            <a:r>
              <a:rPr lang="en-US" b="true" sz="2195" spc="2">
                <a:solidFill>
                  <a:srgbClr val="FFFFFF"/>
                </a:solidFill>
                <a:latin typeface="Arial Bold"/>
                <a:ea typeface="Arial Bold"/>
                <a:cs typeface="Arial Bold"/>
                <a:sym typeface="Arial Bold"/>
              </a:rPr>
              <a:t>Introduction</a:t>
            </a:r>
            <a:r>
              <a:rPr lang="en-US" b="true" sz="2195" spc="2">
                <a:solidFill>
                  <a:srgbClr val="000000"/>
                </a:solidFill>
                <a:latin typeface="Arial Bold"/>
                <a:ea typeface="Arial Bold"/>
                <a:cs typeface="Arial Bold"/>
                <a:sym typeface="Arial Bold"/>
              </a:rPr>
              <a:t> </a:t>
            </a:r>
          </a:p>
        </p:txBody>
      </p:sp>
      <p:sp>
        <p:nvSpPr>
          <p:cNvPr name="TextBox 46" id="46"/>
          <p:cNvSpPr txBox="true"/>
          <p:nvPr/>
        </p:nvSpPr>
        <p:spPr>
          <a:xfrm rot="0">
            <a:off x="7207634" y="1927812"/>
            <a:ext cx="5885326" cy="388722"/>
          </a:xfrm>
          <a:prstGeom prst="rect">
            <a:avLst/>
          </a:prstGeom>
        </p:spPr>
        <p:txBody>
          <a:bodyPr anchor="t" rtlCol="false" tIns="0" lIns="0" bIns="0" rIns="0">
            <a:spAutoFit/>
          </a:bodyPr>
          <a:lstStyle/>
          <a:p>
            <a:pPr algn="l">
              <a:lnSpc>
                <a:spcPts val="3074"/>
              </a:lnSpc>
            </a:pPr>
            <a:r>
              <a:rPr lang="en-US" b="true" sz="2195">
                <a:solidFill>
                  <a:srgbClr val="FFFFFF"/>
                </a:solidFill>
                <a:latin typeface="Arial Bold"/>
                <a:ea typeface="Arial Bold"/>
                <a:cs typeface="Arial Bold"/>
                <a:sym typeface="Arial Bold"/>
              </a:rPr>
              <a:t>Architecture</a:t>
            </a:r>
            <a:r>
              <a:rPr lang="en-US" b="true" sz="2195">
                <a:solidFill>
                  <a:srgbClr val="FFFFFF"/>
                </a:solidFill>
                <a:latin typeface="Arial Bold"/>
                <a:ea typeface="Arial Bold"/>
                <a:cs typeface="Arial Bold"/>
                <a:sym typeface="Arial Bold"/>
              </a:rPr>
              <a:t>, Flowchart, Models, Results</a:t>
            </a:r>
            <a:r>
              <a:rPr lang="en-US" b="true" sz="2195">
                <a:solidFill>
                  <a:srgbClr val="000000"/>
                </a:solidFill>
                <a:latin typeface="Arial Bold"/>
                <a:ea typeface="Arial Bold"/>
                <a:cs typeface="Arial Bold"/>
                <a:sym typeface="Arial Bold"/>
              </a:rPr>
              <a:t> </a:t>
            </a:r>
          </a:p>
        </p:txBody>
      </p:sp>
      <p:sp>
        <p:nvSpPr>
          <p:cNvPr name="TextBox 47" id="47"/>
          <p:cNvSpPr txBox="true"/>
          <p:nvPr/>
        </p:nvSpPr>
        <p:spPr>
          <a:xfrm rot="0">
            <a:off x="16704307" y="1929336"/>
            <a:ext cx="1630709" cy="386048"/>
          </a:xfrm>
          <a:prstGeom prst="rect">
            <a:avLst/>
          </a:prstGeom>
        </p:spPr>
        <p:txBody>
          <a:bodyPr anchor="t" rtlCol="false" tIns="0" lIns="0" bIns="0" rIns="0">
            <a:spAutoFit/>
          </a:bodyPr>
          <a:lstStyle/>
          <a:p>
            <a:pPr algn="l">
              <a:lnSpc>
                <a:spcPts val="3074"/>
              </a:lnSpc>
            </a:pPr>
            <a:r>
              <a:rPr lang="en-US" b="true" sz="2195" spc="2">
                <a:solidFill>
                  <a:srgbClr val="FFFFFF"/>
                </a:solidFill>
                <a:latin typeface="Arial Bold"/>
                <a:ea typeface="Arial Bold"/>
                <a:cs typeface="Arial Bold"/>
                <a:sym typeface="Arial Bold"/>
              </a:rPr>
              <a:t>Conclusion</a:t>
            </a:r>
            <a:r>
              <a:rPr lang="en-US" b="true" sz="2195" spc="2">
                <a:solidFill>
                  <a:srgbClr val="000000"/>
                </a:solidFill>
                <a:latin typeface="Arial Bold"/>
                <a:ea typeface="Arial Bold"/>
                <a:cs typeface="Arial Bold"/>
                <a:sym typeface="Arial Bold"/>
              </a:rPr>
              <a:t> </a:t>
            </a:r>
          </a:p>
        </p:txBody>
      </p:sp>
      <p:sp>
        <p:nvSpPr>
          <p:cNvPr name="TextBox 48" id="48"/>
          <p:cNvSpPr txBox="true"/>
          <p:nvPr/>
        </p:nvSpPr>
        <p:spPr>
          <a:xfrm rot="0">
            <a:off x="542163" y="9226020"/>
            <a:ext cx="4261485" cy="4885220"/>
          </a:xfrm>
          <a:prstGeom prst="rect">
            <a:avLst/>
          </a:prstGeom>
        </p:spPr>
        <p:txBody>
          <a:bodyPr anchor="t" rtlCol="false" tIns="0" lIns="0" bIns="0" rIns="0">
            <a:spAutoFit/>
          </a:bodyPr>
          <a:lstStyle/>
          <a:p>
            <a:pPr algn="l">
              <a:lnSpc>
                <a:spcPts val="1493"/>
              </a:lnSpc>
            </a:pPr>
            <a:r>
              <a:rPr lang="en-US" sz="1299" b="true">
                <a:solidFill>
                  <a:srgbClr val="000000"/>
                </a:solidFill>
                <a:latin typeface="Arial Bold"/>
                <a:ea typeface="Arial Bold"/>
                <a:cs typeface="Arial Bold"/>
                <a:sym typeface="Arial Bold"/>
              </a:rPr>
              <a:t>Amazon lex V2:</a:t>
            </a:r>
            <a:r>
              <a:rPr lang="en-US" sz="1299">
                <a:solidFill>
                  <a:srgbClr val="000000"/>
                </a:solidFill>
                <a:latin typeface="Arial"/>
                <a:ea typeface="Arial"/>
                <a:cs typeface="Arial"/>
                <a:sym typeface="Arial"/>
              </a:rPr>
              <a:t> </a:t>
            </a:r>
          </a:p>
          <a:p>
            <a:pPr algn="ctr">
              <a:lnSpc>
                <a:spcPts val="1493"/>
              </a:lnSpc>
            </a:pPr>
            <a:r>
              <a:rPr lang="en-US" sz="1299">
                <a:solidFill>
                  <a:srgbClr val="000000"/>
                </a:solidFill>
                <a:latin typeface="Arial"/>
                <a:ea typeface="Arial"/>
                <a:cs typeface="Arial"/>
                <a:sym typeface="Arial"/>
              </a:rPr>
              <a:t>provides Language Understanding (NLU) to identify user intent </a:t>
            </a:r>
          </a:p>
          <a:p>
            <a:pPr algn="l">
              <a:lnSpc>
                <a:spcPts val="1493"/>
              </a:lnSpc>
            </a:pPr>
            <a:r>
              <a:rPr lang="en-US" sz="1299" b="true">
                <a:solidFill>
                  <a:srgbClr val="000000"/>
                </a:solidFill>
                <a:latin typeface="Arial Bold"/>
                <a:ea typeface="Arial Bold"/>
                <a:cs typeface="Arial Bold"/>
                <a:sym typeface="Arial Bold"/>
              </a:rPr>
              <a:t>AWS Lambda:</a:t>
            </a:r>
            <a:r>
              <a:rPr lang="en-US" sz="1299">
                <a:solidFill>
                  <a:srgbClr val="000000"/>
                </a:solidFill>
                <a:latin typeface="Arial"/>
                <a:ea typeface="Arial"/>
                <a:cs typeface="Arial"/>
                <a:sym typeface="Arial"/>
              </a:rPr>
              <a:t> </a:t>
            </a:r>
          </a:p>
          <a:p>
            <a:pPr algn="ctr">
              <a:lnSpc>
                <a:spcPts val="1493"/>
              </a:lnSpc>
            </a:pPr>
            <a:r>
              <a:rPr lang="en-US" sz="1299">
                <a:solidFill>
                  <a:srgbClr val="000000"/>
                </a:solidFill>
                <a:latin typeface="Arial"/>
                <a:ea typeface="Arial"/>
                <a:cs typeface="Arial"/>
                <a:sym typeface="Arial"/>
              </a:rPr>
              <a:t>The serverless backend "brain" that runs the code to fulfill the Lex intent, call the Spoonacular API, and process the results.</a:t>
            </a:r>
          </a:p>
          <a:p>
            <a:pPr algn="l">
              <a:lnSpc>
                <a:spcPts val="1493"/>
              </a:lnSpc>
            </a:pPr>
            <a:r>
              <a:rPr lang="en-US" sz="1299">
                <a:solidFill>
                  <a:srgbClr val="000000"/>
                </a:solidFill>
                <a:latin typeface="Arial"/>
                <a:ea typeface="Arial"/>
                <a:cs typeface="Arial"/>
                <a:sym typeface="Arial"/>
              </a:rPr>
              <a:t> </a:t>
            </a:r>
            <a:r>
              <a:rPr lang="en-US" sz="1299" b="true">
                <a:solidFill>
                  <a:srgbClr val="000000"/>
                </a:solidFill>
                <a:latin typeface="Arial Bold"/>
                <a:ea typeface="Arial Bold"/>
                <a:cs typeface="Arial Bold"/>
                <a:sym typeface="Arial Bold"/>
              </a:rPr>
              <a:t>Amazon Polly:</a:t>
            </a:r>
            <a:r>
              <a:rPr lang="en-US" sz="1299">
                <a:solidFill>
                  <a:srgbClr val="000000"/>
                </a:solidFill>
                <a:latin typeface="Arial"/>
                <a:ea typeface="Arial"/>
                <a:cs typeface="Arial"/>
                <a:sym typeface="Arial"/>
              </a:rPr>
              <a:t> </a:t>
            </a:r>
          </a:p>
          <a:p>
            <a:pPr algn="ctr">
              <a:lnSpc>
                <a:spcPts val="1378"/>
              </a:lnSpc>
            </a:pPr>
            <a:r>
              <a:rPr lang="en-US" sz="1200">
                <a:solidFill>
                  <a:srgbClr val="000000"/>
                </a:solidFill>
                <a:latin typeface="Arial"/>
                <a:ea typeface="Arial"/>
                <a:cs typeface="Arial"/>
                <a:sym typeface="Arial"/>
              </a:rPr>
              <a:t>Provides Text-to-Speech (TTS) synthesis, converting the bot's text replies into a playable, lifelike audio voice.</a:t>
            </a:r>
          </a:p>
          <a:p>
            <a:pPr algn="l">
              <a:lnSpc>
                <a:spcPts val="1493"/>
              </a:lnSpc>
            </a:pPr>
            <a:r>
              <a:rPr lang="en-US" sz="1299" b="true">
                <a:solidFill>
                  <a:srgbClr val="000000"/>
                </a:solidFill>
                <a:latin typeface="Arial Bold"/>
                <a:ea typeface="Arial Bold"/>
                <a:cs typeface="Arial Bold"/>
                <a:sym typeface="Arial Bold"/>
              </a:rPr>
              <a:t>Spoonacular API:</a:t>
            </a:r>
            <a:r>
              <a:rPr lang="en-US" sz="1299">
                <a:solidFill>
                  <a:srgbClr val="000000"/>
                </a:solidFill>
                <a:latin typeface="Arial"/>
                <a:ea typeface="Arial"/>
                <a:cs typeface="Arial"/>
                <a:sym typeface="Arial"/>
              </a:rPr>
              <a:t> </a:t>
            </a:r>
          </a:p>
          <a:p>
            <a:pPr algn="ctr">
              <a:lnSpc>
                <a:spcPts val="1493"/>
              </a:lnSpc>
            </a:pPr>
            <a:r>
              <a:rPr lang="en-US" sz="1299">
                <a:solidFill>
                  <a:srgbClr val="000000"/>
                </a:solidFill>
                <a:latin typeface="Arial"/>
                <a:ea typeface="Arial"/>
                <a:cs typeface="Arial"/>
                <a:sym typeface="Arial"/>
              </a:rPr>
              <a:t>The third-party data source that provides all recipe data, including titles, instructions, and image URLs, via HTTP requests.</a:t>
            </a:r>
          </a:p>
          <a:p>
            <a:pPr algn="l">
              <a:lnSpc>
                <a:spcPts val="1493"/>
              </a:lnSpc>
            </a:pPr>
            <a:r>
              <a:rPr lang="en-US" sz="1299" b="true">
                <a:solidFill>
                  <a:srgbClr val="000000"/>
                </a:solidFill>
                <a:latin typeface="Arial Bold"/>
                <a:ea typeface="Arial Bold"/>
                <a:cs typeface="Arial Bold"/>
                <a:sym typeface="Arial Bold"/>
              </a:rPr>
              <a:t>Amazon S3:</a:t>
            </a:r>
          </a:p>
          <a:p>
            <a:pPr algn="ctr">
              <a:lnSpc>
                <a:spcPts val="1493"/>
              </a:lnSpc>
            </a:pPr>
            <a:r>
              <a:rPr lang="en-US" sz="1299">
                <a:solidFill>
                  <a:srgbClr val="000000"/>
                </a:solidFill>
                <a:latin typeface="Arial"/>
                <a:ea typeface="Arial"/>
                <a:cs typeface="Arial"/>
                <a:sym typeface="Arial"/>
              </a:rPr>
              <a:t> Used for cloud storage to host the static website (HTML, CSS, JavaScript files) and make it accessible to the public internet.</a:t>
            </a:r>
          </a:p>
          <a:p>
            <a:pPr algn="l">
              <a:lnSpc>
                <a:spcPts val="1493"/>
              </a:lnSpc>
            </a:pPr>
            <a:r>
              <a:rPr lang="en-US" sz="1299" b="true">
                <a:solidFill>
                  <a:srgbClr val="000000"/>
                </a:solidFill>
                <a:latin typeface="Arial Bold"/>
                <a:ea typeface="Arial Bold"/>
                <a:cs typeface="Arial Bold"/>
                <a:sym typeface="Arial Bold"/>
              </a:rPr>
              <a:t>Amazon Cognito:</a:t>
            </a:r>
          </a:p>
          <a:p>
            <a:pPr algn="ctr">
              <a:lnSpc>
                <a:spcPts val="1493"/>
              </a:lnSpc>
            </a:pPr>
            <a:r>
              <a:rPr lang="en-US" sz="1299">
                <a:solidFill>
                  <a:srgbClr val="000000"/>
                </a:solidFill>
                <a:latin typeface="Arial"/>
                <a:ea typeface="Arial"/>
                <a:cs typeface="Arial"/>
                <a:sym typeface="Arial"/>
              </a:rPr>
              <a:t>Manages security by providing secure, temporary AWS credentials to the frontend application so it can access Lex and Polly without exposing secret keys.</a:t>
            </a:r>
          </a:p>
          <a:p>
            <a:pPr algn="l">
              <a:lnSpc>
                <a:spcPts val="1493"/>
              </a:lnSpc>
            </a:pPr>
            <a:r>
              <a:rPr lang="en-US" sz="1299" b="true">
                <a:solidFill>
                  <a:srgbClr val="000000"/>
                </a:solidFill>
                <a:latin typeface="Arial Bold"/>
                <a:ea typeface="Arial Bold"/>
                <a:cs typeface="Arial Bold"/>
                <a:sym typeface="Arial Bold"/>
              </a:rPr>
              <a:t>IAM Roles</a:t>
            </a:r>
            <a:r>
              <a:rPr lang="en-US" sz="1299">
                <a:solidFill>
                  <a:srgbClr val="000000"/>
                </a:solidFill>
                <a:latin typeface="Arial"/>
                <a:ea typeface="Arial"/>
                <a:cs typeface="Arial"/>
                <a:sym typeface="Arial"/>
              </a:rPr>
              <a:t>: </a:t>
            </a:r>
          </a:p>
          <a:p>
            <a:pPr algn="ctr">
              <a:lnSpc>
                <a:spcPts val="1493"/>
              </a:lnSpc>
            </a:pPr>
            <a:r>
              <a:rPr lang="en-US" sz="1299">
                <a:solidFill>
                  <a:srgbClr val="000000"/>
                </a:solidFill>
                <a:latin typeface="Arial"/>
                <a:ea typeface="Arial"/>
                <a:cs typeface="Arial"/>
                <a:sym typeface="Arial"/>
              </a:rPr>
              <a:t>Grants specific permissions for all the services to communicate with each other securely (e.g., allowing Lex to invoke Lambda)</a:t>
            </a:r>
          </a:p>
          <a:p>
            <a:pPr algn="ctr">
              <a:lnSpc>
                <a:spcPts val="1493"/>
              </a:lnSpc>
            </a:pPr>
          </a:p>
        </p:txBody>
      </p:sp>
      <p:sp>
        <p:nvSpPr>
          <p:cNvPr name="TextBox 49" id="49"/>
          <p:cNvSpPr txBox="true"/>
          <p:nvPr/>
        </p:nvSpPr>
        <p:spPr>
          <a:xfrm rot="0">
            <a:off x="10294710" y="4749802"/>
            <a:ext cx="4409456" cy="391795"/>
          </a:xfrm>
          <a:prstGeom prst="rect">
            <a:avLst/>
          </a:prstGeom>
        </p:spPr>
        <p:txBody>
          <a:bodyPr anchor="t" rtlCol="false" tIns="0" lIns="0" bIns="0" rIns="0">
            <a:spAutoFit/>
          </a:bodyPr>
          <a:lstStyle/>
          <a:p>
            <a:pPr algn="ctr">
              <a:lnSpc>
                <a:spcPts val="3079"/>
              </a:lnSpc>
              <a:spcBef>
                <a:spcPct val="0"/>
              </a:spcBef>
            </a:pPr>
            <a:r>
              <a:rPr lang="en-US" b="true" sz="2199" spc="2">
                <a:solidFill>
                  <a:srgbClr val="FFFFFF"/>
                </a:solidFill>
                <a:latin typeface="Arial Bold"/>
                <a:ea typeface="Arial Bold"/>
                <a:cs typeface="Arial Bold"/>
                <a:sym typeface="Arial Bold"/>
              </a:rPr>
              <a:t>Results</a:t>
            </a:r>
          </a:p>
        </p:txBody>
      </p:sp>
      <p:sp>
        <p:nvSpPr>
          <p:cNvPr name="TextBox 50" id="50"/>
          <p:cNvSpPr txBox="true"/>
          <p:nvPr/>
        </p:nvSpPr>
        <p:spPr>
          <a:xfrm rot="0">
            <a:off x="15307056" y="7817825"/>
            <a:ext cx="4415800" cy="5044288"/>
          </a:xfrm>
          <a:prstGeom prst="rect">
            <a:avLst/>
          </a:prstGeom>
        </p:spPr>
        <p:txBody>
          <a:bodyPr anchor="t" rtlCol="false" tIns="0" lIns="0" bIns="0" rIns="0">
            <a:spAutoFit/>
          </a:bodyPr>
          <a:lstStyle/>
          <a:p>
            <a:pPr algn="l" marL="276568" indent="-138284" lvl="1">
              <a:lnSpc>
                <a:spcPts val="1793"/>
              </a:lnSpc>
              <a:buFont typeface="Arial"/>
              <a:buChar char="•"/>
            </a:pPr>
            <a:r>
              <a:rPr lang="en-US" b="true" sz="1280" spc="1">
                <a:solidFill>
                  <a:srgbClr val="000000"/>
                </a:solidFill>
                <a:latin typeface="Arial Bold"/>
                <a:ea typeface="Arial Bold"/>
                <a:cs typeface="Arial Bold"/>
                <a:sym typeface="Arial Bold"/>
              </a:rPr>
              <a:t>Spo</a:t>
            </a:r>
            <a:r>
              <a:rPr lang="en-US" b="true" sz="1280" spc="1">
                <a:solidFill>
                  <a:srgbClr val="000000"/>
                </a:solidFill>
                <a:latin typeface="Arial Bold"/>
                <a:ea typeface="Arial Bold"/>
                <a:cs typeface="Arial Bold"/>
                <a:sym typeface="Arial Bold"/>
              </a:rPr>
              <a:t>onacular API Documentation: https://spoonacular.com/food-api/docs </a:t>
            </a:r>
          </a:p>
          <a:p>
            <a:pPr algn="l">
              <a:lnSpc>
                <a:spcPts val="1793"/>
              </a:lnSpc>
            </a:pPr>
          </a:p>
          <a:p>
            <a:pPr algn="l" marL="276568" indent="-138284" lvl="1">
              <a:lnSpc>
                <a:spcPts val="1793"/>
              </a:lnSpc>
              <a:spcBef>
                <a:spcPct val="0"/>
              </a:spcBef>
              <a:buFont typeface="Arial"/>
              <a:buChar char="•"/>
            </a:pPr>
            <a:r>
              <a:rPr lang="en-US" b="true" sz="1280" spc="1">
                <a:solidFill>
                  <a:srgbClr val="000000"/>
                </a:solidFill>
                <a:latin typeface="Arial Bold"/>
                <a:ea typeface="Arial Bold"/>
                <a:cs typeface="Arial Bold"/>
                <a:sym typeface="Arial Bold"/>
              </a:rPr>
              <a:t>Amazon Lex V2 Developer Guide: https://docs.aws.amazon.com/lexv2/latest/dg/what-is.html </a:t>
            </a:r>
          </a:p>
          <a:p>
            <a:pPr algn="l">
              <a:lnSpc>
                <a:spcPts val="1793"/>
              </a:lnSpc>
              <a:spcBef>
                <a:spcPct val="0"/>
              </a:spcBef>
            </a:pPr>
          </a:p>
          <a:p>
            <a:pPr algn="l" marL="276568" indent="-138284" lvl="1">
              <a:lnSpc>
                <a:spcPts val="1793"/>
              </a:lnSpc>
              <a:buFont typeface="Arial"/>
              <a:buChar char="•"/>
            </a:pPr>
            <a:r>
              <a:rPr lang="en-US" b="true" sz="1280" spc="1">
                <a:solidFill>
                  <a:srgbClr val="000000"/>
                </a:solidFill>
                <a:latin typeface="Arial Bold"/>
                <a:ea typeface="Arial Bold"/>
                <a:cs typeface="Arial Bold"/>
                <a:sym typeface="Arial Bold"/>
              </a:rPr>
              <a:t>Amazon Polly Developer Guide: https://docs.aws.amazon.com/polly/latest/dg/what-is.html </a:t>
            </a:r>
          </a:p>
          <a:p>
            <a:pPr algn="l">
              <a:lnSpc>
                <a:spcPts val="1793"/>
              </a:lnSpc>
            </a:pPr>
          </a:p>
          <a:p>
            <a:pPr algn="l" marL="276568" indent="-138284" lvl="1">
              <a:lnSpc>
                <a:spcPts val="1793"/>
              </a:lnSpc>
              <a:buFont typeface="Arial"/>
              <a:buChar char="•"/>
            </a:pPr>
            <a:r>
              <a:rPr lang="en-US" b="true" sz="1280" spc="1">
                <a:solidFill>
                  <a:srgbClr val="000000"/>
                </a:solidFill>
                <a:latin typeface="Arial Bold"/>
                <a:ea typeface="Arial Bold"/>
                <a:cs typeface="Arial Bold"/>
                <a:sym typeface="Arial Bold"/>
              </a:rPr>
              <a:t>AWS Lambda Developer Guide: https://docs.aws.amazon.com/lambda/latest/dg/welcome.html</a:t>
            </a:r>
          </a:p>
          <a:p>
            <a:pPr algn="l">
              <a:lnSpc>
                <a:spcPts val="1793"/>
              </a:lnSpc>
            </a:pPr>
          </a:p>
          <a:p>
            <a:pPr algn="l" marL="276568" indent="-138284" lvl="1">
              <a:lnSpc>
                <a:spcPts val="1793"/>
              </a:lnSpc>
              <a:spcBef>
                <a:spcPct val="0"/>
              </a:spcBef>
              <a:buFont typeface="Arial"/>
              <a:buChar char="•"/>
            </a:pPr>
            <a:r>
              <a:rPr lang="en-US" b="true" sz="1280" spc="1">
                <a:solidFill>
                  <a:srgbClr val="000000"/>
                </a:solidFill>
                <a:latin typeface="Arial Bold"/>
                <a:ea typeface="Arial Bold"/>
                <a:cs typeface="Arial Bold"/>
                <a:sym typeface="Arial Bold"/>
              </a:rPr>
              <a:t>Amazon Cognito Developer Guide: https://docs.aws.amazon.com/cognito/latest/developerguide/what-is-amazon-cognito.html</a:t>
            </a:r>
          </a:p>
          <a:p>
            <a:pPr algn="ctr">
              <a:lnSpc>
                <a:spcPts val="1793"/>
              </a:lnSpc>
              <a:spcBef>
                <a:spcPct val="0"/>
              </a:spcBef>
            </a:pPr>
            <a:r>
              <a:rPr lang="en-US" b="true" sz="1280" spc="1">
                <a:solidFill>
                  <a:srgbClr val="000000"/>
                </a:solidFill>
                <a:latin typeface="Arial Bold"/>
                <a:ea typeface="Arial Bold"/>
                <a:cs typeface="Arial Bold"/>
                <a:sym typeface="Arial Bold"/>
              </a:rPr>
              <a:t> </a:t>
            </a:r>
          </a:p>
          <a:p>
            <a:pPr algn="l" marL="276568" indent="-138284" lvl="1">
              <a:lnSpc>
                <a:spcPts val="1793"/>
              </a:lnSpc>
              <a:spcBef>
                <a:spcPct val="0"/>
              </a:spcBef>
              <a:buFont typeface="Arial"/>
              <a:buChar char="•"/>
            </a:pPr>
            <a:r>
              <a:rPr lang="en-US" b="true" sz="1280" spc="1">
                <a:solidFill>
                  <a:srgbClr val="000000"/>
                </a:solidFill>
                <a:latin typeface="Arial Bold"/>
                <a:ea typeface="Arial Bold"/>
                <a:cs typeface="Arial Bold"/>
                <a:sym typeface="Arial Bold"/>
              </a:rPr>
              <a:t>Amazon S3 User Guide (Static Hosting): https://docs.aws.amazon.com/s3/latest/userguide/WebsiteHosting.html </a:t>
            </a:r>
          </a:p>
          <a:p>
            <a:pPr algn="ctr">
              <a:lnSpc>
                <a:spcPts val="1793"/>
              </a:lnSpc>
              <a:spcBef>
                <a:spcPct val="0"/>
              </a:spcBef>
            </a:pPr>
          </a:p>
        </p:txBody>
      </p:sp>
      <p:sp>
        <p:nvSpPr>
          <p:cNvPr name="TextBox 51" id="51"/>
          <p:cNvSpPr txBox="true"/>
          <p:nvPr/>
        </p:nvSpPr>
        <p:spPr>
          <a:xfrm rot="0">
            <a:off x="5976442" y="9664610"/>
            <a:ext cx="4409456" cy="289560"/>
          </a:xfrm>
          <a:prstGeom prst="rect">
            <a:avLst/>
          </a:prstGeom>
        </p:spPr>
        <p:txBody>
          <a:bodyPr anchor="t" rtlCol="false" tIns="0" lIns="0" bIns="0" rIns="0">
            <a:spAutoFit/>
          </a:bodyPr>
          <a:lstStyle/>
          <a:p>
            <a:pPr algn="ctr">
              <a:lnSpc>
                <a:spcPts val="2239"/>
              </a:lnSpc>
              <a:spcBef>
                <a:spcPct val="0"/>
              </a:spcBef>
            </a:pPr>
            <a:r>
              <a:rPr lang="en-US" b="true" sz="1599" spc="1">
                <a:solidFill>
                  <a:srgbClr val="FFFFFF"/>
                </a:solidFill>
                <a:latin typeface="Arial Bold"/>
                <a:ea typeface="Arial Bold"/>
                <a:cs typeface="Arial Bold"/>
                <a:sym typeface="Arial Bold"/>
              </a:rPr>
              <a:t>Acknowledgement</a:t>
            </a:r>
          </a:p>
        </p:txBody>
      </p:sp>
      <p:sp>
        <p:nvSpPr>
          <p:cNvPr name="TextBox 52" id="52"/>
          <p:cNvSpPr txBox="true"/>
          <p:nvPr/>
        </p:nvSpPr>
        <p:spPr>
          <a:xfrm rot="0">
            <a:off x="5914018" y="10293564"/>
            <a:ext cx="4142482" cy="1080770"/>
          </a:xfrm>
          <a:prstGeom prst="rect">
            <a:avLst/>
          </a:prstGeom>
        </p:spPr>
        <p:txBody>
          <a:bodyPr anchor="t" rtlCol="false" tIns="0" lIns="0" bIns="0" rIns="0">
            <a:spAutoFit/>
          </a:bodyPr>
          <a:lstStyle/>
          <a:p>
            <a:pPr algn="ctr">
              <a:lnSpc>
                <a:spcPts val="1679"/>
              </a:lnSpc>
              <a:spcBef>
                <a:spcPct val="0"/>
              </a:spcBef>
            </a:pPr>
            <a:r>
              <a:rPr lang="en-US" b="true" sz="1200" spc="1">
                <a:solidFill>
                  <a:srgbClr val="000000"/>
                </a:solidFill>
                <a:latin typeface="Arial Bold"/>
                <a:ea typeface="Arial Bold"/>
                <a:cs typeface="Arial Bold"/>
                <a:sym typeface="Arial Bold"/>
              </a:rPr>
              <a:t>I sincerely thank Dr. Naresh Vuruk</a:t>
            </a:r>
            <a:r>
              <a:rPr lang="en-US" b="true" sz="1200" spc="1">
                <a:solidFill>
                  <a:srgbClr val="000000"/>
                </a:solidFill>
                <a:latin typeface="Arial Bold"/>
                <a:ea typeface="Arial Bold"/>
                <a:cs typeface="Arial Bold"/>
                <a:sym typeface="Arial Bold"/>
              </a:rPr>
              <a:t>onda for his </a:t>
            </a:r>
          </a:p>
          <a:p>
            <a:pPr algn="ctr">
              <a:lnSpc>
                <a:spcPts val="1679"/>
              </a:lnSpc>
              <a:spcBef>
                <a:spcPct val="0"/>
              </a:spcBef>
            </a:pPr>
            <a:r>
              <a:rPr lang="en-US" b="true" sz="1200" spc="1">
                <a:solidFill>
                  <a:srgbClr val="000000"/>
                </a:solidFill>
                <a:latin typeface="Arial Bold"/>
                <a:ea typeface="Arial Bold"/>
                <a:cs typeface="Arial Bold"/>
                <a:sym typeface="Arial Bold"/>
              </a:rPr>
              <a:t>valuable guidance and support throughout this project , </a:t>
            </a:r>
          </a:p>
          <a:p>
            <a:pPr algn="ctr">
              <a:lnSpc>
                <a:spcPts val="1679"/>
              </a:lnSpc>
              <a:spcBef>
                <a:spcPct val="0"/>
              </a:spcBef>
            </a:pPr>
            <a:r>
              <a:rPr lang="en-US" b="true" sz="1200" spc="1">
                <a:solidFill>
                  <a:srgbClr val="000000"/>
                </a:solidFill>
                <a:latin typeface="Arial Bold"/>
                <a:ea typeface="Arial Bold"/>
                <a:cs typeface="Arial Bold"/>
                <a:sym typeface="Arial Bold"/>
              </a:rPr>
              <a:t>carried out as a part of Cloud Computing </a:t>
            </a:r>
          </a:p>
          <a:p>
            <a:pPr algn="ctr">
              <a:lnSpc>
                <a:spcPts val="1679"/>
              </a:lnSpc>
              <a:spcBef>
                <a:spcPct val="0"/>
              </a:spcBef>
            </a:pPr>
            <a:r>
              <a:rPr lang="en-US" b="true" sz="1200" spc="1">
                <a:solidFill>
                  <a:srgbClr val="000000"/>
                </a:solidFill>
                <a:latin typeface="Arial Bold"/>
                <a:ea typeface="Arial Bold"/>
                <a:cs typeface="Arial Bold"/>
                <a:sym typeface="Arial Bold"/>
              </a:rPr>
              <a:t>course.</a:t>
            </a:r>
          </a:p>
          <a:p>
            <a:pPr algn="ctr">
              <a:lnSpc>
                <a:spcPts val="1679"/>
              </a:lnSpc>
              <a:spcBef>
                <a:spcPct val="0"/>
              </a:spcBef>
            </a:pPr>
          </a:p>
        </p:txBody>
      </p:sp>
      <p:sp>
        <p:nvSpPr>
          <p:cNvPr name="TextBox 53" id="53"/>
          <p:cNvSpPr txBox="true"/>
          <p:nvPr/>
        </p:nvSpPr>
        <p:spPr>
          <a:xfrm rot="0">
            <a:off x="11703962" y="10956994"/>
            <a:ext cx="1794173" cy="289560"/>
          </a:xfrm>
          <a:prstGeom prst="rect">
            <a:avLst/>
          </a:prstGeom>
        </p:spPr>
        <p:txBody>
          <a:bodyPr anchor="t" rtlCol="false" tIns="0" lIns="0" bIns="0" rIns="0">
            <a:spAutoFit/>
          </a:bodyPr>
          <a:lstStyle/>
          <a:p>
            <a:pPr algn="ctr">
              <a:lnSpc>
                <a:spcPts val="2239"/>
              </a:lnSpc>
              <a:spcBef>
                <a:spcPct val="0"/>
              </a:spcBef>
            </a:pPr>
            <a:r>
              <a:rPr lang="en-US" b="true" sz="1599" spc="1">
                <a:solidFill>
                  <a:srgbClr val="FFFFFF"/>
                </a:solidFill>
                <a:latin typeface="Arial Bold"/>
                <a:ea typeface="Arial Bold"/>
                <a:cs typeface="Arial Bold"/>
                <a:sym typeface="Arial Bold"/>
              </a:rPr>
              <a:t>Project Demo Link</a:t>
            </a:r>
          </a:p>
        </p:txBody>
      </p:sp>
      <p:sp>
        <p:nvSpPr>
          <p:cNvPr name="TextBox 54" id="54"/>
          <p:cNvSpPr txBox="true"/>
          <p:nvPr/>
        </p:nvSpPr>
        <p:spPr>
          <a:xfrm rot="0">
            <a:off x="10994101" y="11625767"/>
            <a:ext cx="3213894" cy="332740"/>
          </a:xfrm>
          <a:prstGeom prst="rect">
            <a:avLst/>
          </a:prstGeom>
        </p:spPr>
        <p:txBody>
          <a:bodyPr anchor="t" rtlCol="false" tIns="0" lIns="0" bIns="0" rIns="0">
            <a:spAutoFit/>
          </a:bodyPr>
          <a:lstStyle/>
          <a:p>
            <a:pPr algn="ctr">
              <a:lnSpc>
                <a:spcPts val="2659"/>
              </a:lnSpc>
              <a:spcBef>
                <a:spcPct val="0"/>
              </a:spcBef>
            </a:pPr>
            <a:r>
              <a:rPr lang="en-US" sz="1899" spc="1">
                <a:solidFill>
                  <a:srgbClr val="000000"/>
                </a:solidFill>
                <a:latin typeface="Arial"/>
                <a:ea typeface="Arial"/>
                <a:cs typeface="Arial"/>
                <a:sym typeface="Arial"/>
              </a:rPr>
              <a:t> https://youtu.be/i89wo1gTGls</a:t>
            </a:r>
          </a:p>
        </p:txBody>
      </p:sp>
      <p:sp>
        <p:nvSpPr>
          <p:cNvPr name="TextBox 55" id="55"/>
          <p:cNvSpPr txBox="true"/>
          <p:nvPr/>
        </p:nvSpPr>
        <p:spPr>
          <a:xfrm rot="0">
            <a:off x="10681771" y="12196633"/>
            <a:ext cx="4034036" cy="289560"/>
          </a:xfrm>
          <a:prstGeom prst="rect">
            <a:avLst/>
          </a:prstGeom>
        </p:spPr>
        <p:txBody>
          <a:bodyPr anchor="t" rtlCol="false" tIns="0" lIns="0" bIns="0" rIns="0">
            <a:spAutoFit/>
          </a:bodyPr>
          <a:lstStyle/>
          <a:p>
            <a:pPr algn="ctr">
              <a:lnSpc>
                <a:spcPts val="2239"/>
              </a:lnSpc>
              <a:spcBef>
                <a:spcPct val="0"/>
              </a:spcBef>
            </a:pPr>
            <a:r>
              <a:rPr lang="en-US" b="true" sz="1599" spc="1">
                <a:solidFill>
                  <a:srgbClr val="000000"/>
                </a:solidFill>
                <a:latin typeface="Arial Bold"/>
                <a:ea typeface="Arial Bold"/>
                <a:cs typeface="Arial Bold"/>
                <a:sym typeface="Arial Bold"/>
              </a:rPr>
              <a:t>Document of project implementation link:</a:t>
            </a:r>
          </a:p>
        </p:txBody>
      </p:sp>
      <p:sp>
        <p:nvSpPr>
          <p:cNvPr name="TextBox 56" id="56"/>
          <p:cNvSpPr txBox="true"/>
          <p:nvPr/>
        </p:nvSpPr>
        <p:spPr>
          <a:xfrm rot="0">
            <a:off x="10208851" y="13062137"/>
            <a:ext cx="6146800" cy="217170"/>
          </a:xfrm>
          <a:prstGeom prst="rect">
            <a:avLst/>
          </a:prstGeom>
        </p:spPr>
        <p:txBody>
          <a:bodyPr anchor="t" rtlCol="false" tIns="0" lIns="0" bIns="0" rIns="0">
            <a:spAutoFit/>
          </a:bodyPr>
          <a:lstStyle/>
          <a:p>
            <a:pPr algn="ctr">
              <a:lnSpc>
                <a:spcPts val="1679"/>
              </a:lnSpc>
              <a:spcBef>
                <a:spcPct val="0"/>
              </a:spcBef>
            </a:pPr>
            <a:r>
              <a:rPr lang="en-US" sz="1200" spc="1">
                <a:solidFill>
                  <a:srgbClr val="000000"/>
                </a:solidFill>
                <a:latin typeface="Arial"/>
                <a:ea typeface="Arial"/>
                <a:cs typeface="Arial"/>
                <a:sym typeface="Arial"/>
              </a:rPr>
              <a:t> https://drive.google.com/file/d/15-Hn1K2jXpSkMRngd5grTi69ZdcN0rvU/view?usp=sharing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DAG3IibqTkE</dc:identifier>
  <dcterms:modified xsi:type="dcterms:W3CDTF">2011-08-01T06:04:30Z</dcterms:modified>
  <cp:revision>1</cp:revision>
  <dc:title>reference poster.pdf</dc:title>
</cp:coreProperties>
</file>